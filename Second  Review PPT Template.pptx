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4EC3592-984C-4151-AD70-DFD7854177C3}">
  <a:tblStyle styleId="{74EC3592-984C-4151-AD70-DFD7854177C3}" styleName="Table_0">
    <a:wholeTbl>
      <a:tcTxStyle b="off" i="off">
        <a:font>
          <a:latin typeface="Calibri"/>
          <a:ea typeface="Calibri"/>
          <a:cs typeface="Calibri"/>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FFFFFF">
              <a:alpha val="0"/>
            </a:srgbClr>
          </a:solidFill>
        </a:fill>
      </a:tcStyle>
    </a:wholeTbl>
    <a:band1H>
      <a:tcTxStyle/>
      <a:tcStyle>
        <a:tcBdr/>
        <a:fill>
          <a:solidFill>
            <a:schemeClr val="accent5">
              <a:alpha val="20000"/>
            </a:schemeClr>
          </a:solidFill>
        </a:fill>
      </a:tcStyle>
    </a:band1H>
    <a:band2H>
      <a:tcTxStyle/>
      <a:tcStyle>
        <a:tcBdr/>
      </a:tcStyle>
    </a:band2H>
    <a:band1V>
      <a:tcTxStyle/>
      <a:tcStyle>
        <a:tcBdr/>
        <a:fill>
          <a:solidFill>
            <a:schemeClr val="accent5">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5"/>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35CD3641-CC82-49D3-8CCD-38F6F3F50373}"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912" autoAdjust="0"/>
  </p:normalViewPr>
  <p:slideViewPr>
    <p:cSldViewPr snapToGrid="0">
      <p:cViewPr varScale="1">
        <p:scale>
          <a:sx n="56" d="100"/>
          <a:sy n="56" d="100"/>
        </p:scale>
        <p:origin x="1580"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2c5a3efede5_0_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g2c5a3efede5_0_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5a3efede5_0_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g2c5a3efede5_0_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c5a3efede5_0_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g2c5a3efede5_0_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c5a3efede5_0_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g2c5a3efede5_0_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c5a3efede5_0_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g2c5a3efede5_0_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c5a3efede5_0_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g2c5a3efede5_0_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2c5a3efede5_0_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g2c5a3efede5_0_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c5a3efede5_0_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g2c5a3efede5_0_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c5a3efede5_0_7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g2c5a3efede5_0_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2c5a3efede5_0_9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g2c5a3efede5_0_9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2c5a3efede5_0_10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g2c5a3efede5_0_1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2514600" y="469900"/>
            <a:ext cx="6248400" cy="1330326"/>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1800"/>
              <a:buFont typeface="Times New Roman"/>
              <a:buNone/>
            </a:pPr>
            <a:r>
              <a:rPr lang="en-US" sz="1800" b="1">
                <a:latin typeface="Times New Roman"/>
                <a:ea typeface="Times New Roman"/>
                <a:cs typeface="Times New Roman"/>
                <a:sym typeface="Times New Roman"/>
              </a:rPr>
              <a:t>SRM INSTITUTE OF SCIENCE AND TECHNOLOGY</a:t>
            </a:r>
            <a:br>
              <a:rPr lang="en-US" sz="1800" b="1">
                <a:latin typeface="Times New Roman"/>
                <a:ea typeface="Times New Roman"/>
                <a:cs typeface="Times New Roman"/>
                <a:sym typeface="Times New Roman"/>
              </a:rPr>
            </a:br>
            <a:r>
              <a:rPr lang="en-US" sz="1800" b="1">
                <a:latin typeface="Times New Roman"/>
                <a:ea typeface="Times New Roman"/>
                <a:cs typeface="Times New Roman"/>
                <a:sym typeface="Times New Roman"/>
              </a:rPr>
              <a:t>Ramapuram , Chennai – 600 089</a:t>
            </a:r>
            <a:br>
              <a:rPr lang="en-US" sz="1800" b="1">
                <a:latin typeface="Times New Roman"/>
                <a:ea typeface="Times New Roman"/>
                <a:cs typeface="Times New Roman"/>
                <a:sym typeface="Times New Roman"/>
              </a:rPr>
            </a:br>
            <a:r>
              <a:rPr lang="en-US" sz="1600" b="1">
                <a:latin typeface="Times New Roman"/>
                <a:ea typeface="Times New Roman"/>
                <a:cs typeface="Times New Roman"/>
                <a:sym typeface="Times New Roman"/>
              </a:rPr>
              <a:t>DEPARTMENT OF COMPUTER SCIENCE AND ENGINEERING</a:t>
            </a:r>
            <a:endParaRPr sz="1800"/>
          </a:p>
        </p:txBody>
      </p:sp>
      <p:sp>
        <p:nvSpPr>
          <p:cNvPr id="89" name="Google Shape;89;p13"/>
          <p:cNvSpPr txBox="1">
            <a:spLocks noGrp="1"/>
          </p:cNvSpPr>
          <p:nvPr>
            <p:ph type="subTitle" idx="1"/>
          </p:nvPr>
        </p:nvSpPr>
        <p:spPr>
          <a:xfrm>
            <a:off x="609600" y="1717675"/>
            <a:ext cx="8077200" cy="1640700"/>
          </a:xfrm>
          <a:prstGeom prst="rect">
            <a:avLst/>
          </a:prstGeom>
          <a:noFill/>
          <a:ln>
            <a:noFill/>
          </a:ln>
        </p:spPr>
        <p:txBody>
          <a:bodyPr spcFirstLastPara="1" wrap="square" lIns="91425" tIns="45700" rIns="91425" bIns="45700" anchor="t" anchorCtr="0">
            <a:noAutofit/>
          </a:bodyPr>
          <a:lstStyle/>
          <a:p>
            <a:pPr marL="270510" lvl="0" indent="0" algn="ctr" rtl="0">
              <a:spcBef>
                <a:spcPts val="0"/>
              </a:spcBef>
              <a:spcAft>
                <a:spcPts val="0"/>
              </a:spcAft>
              <a:buClr>
                <a:schemeClr val="dk1"/>
              </a:buClr>
              <a:buSzPts val="3200"/>
              <a:buNone/>
            </a:pPr>
            <a:r>
              <a:rPr lang="en-US">
                <a:solidFill>
                  <a:schemeClr val="dk1"/>
                </a:solidFill>
              </a:rPr>
              <a:t>18CSP109L-MAJOR PROJECT</a:t>
            </a:r>
            <a:endParaRPr/>
          </a:p>
          <a:p>
            <a:pPr marL="0" lvl="0" indent="0" algn="ctr" rtl="0">
              <a:spcBef>
                <a:spcPts val="840"/>
              </a:spcBef>
              <a:spcAft>
                <a:spcPts val="0"/>
              </a:spcAft>
              <a:buClr>
                <a:schemeClr val="dk1"/>
              </a:buClr>
              <a:buSzPts val="1100"/>
              <a:buFont typeface="Arial"/>
              <a:buNone/>
            </a:pPr>
            <a:r>
              <a:rPr lang="en-US" sz="2500" b="1">
                <a:solidFill>
                  <a:schemeClr val="dk1"/>
                </a:solidFill>
              </a:rPr>
              <a:t>Pixel-level Reconstruction Noisy Handwritten Characters Classification based on Deep Progressively Learning Mode</a:t>
            </a:r>
            <a:endParaRPr sz="2500" b="1">
              <a:solidFill>
                <a:schemeClr val="dk1"/>
              </a:solidFill>
            </a:endParaRPr>
          </a:p>
          <a:p>
            <a:pPr marL="0" lvl="0" indent="0" algn="ctr" rtl="0">
              <a:spcBef>
                <a:spcPts val="840"/>
              </a:spcBef>
              <a:spcAft>
                <a:spcPts val="0"/>
              </a:spcAft>
              <a:buClr>
                <a:schemeClr val="dk1"/>
              </a:buClr>
              <a:buSzPts val="3200"/>
              <a:buNone/>
            </a:pPr>
            <a:endParaRPr>
              <a:solidFill>
                <a:schemeClr val="dk1"/>
              </a:solidFill>
            </a:endParaRPr>
          </a:p>
          <a:p>
            <a:pPr marL="0" lvl="0" indent="0" algn="ctr" rtl="0">
              <a:spcBef>
                <a:spcPts val="640"/>
              </a:spcBef>
              <a:spcAft>
                <a:spcPts val="0"/>
              </a:spcAft>
              <a:buClr>
                <a:srgbClr val="888888"/>
              </a:buClr>
              <a:buSzPts val="3200"/>
              <a:buNone/>
            </a:pPr>
            <a:endParaRPr>
              <a:solidFill>
                <a:schemeClr val="dk1"/>
              </a:solidFill>
            </a:endParaRPr>
          </a:p>
        </p:txBody>
      </p:sp>
      <p:pic>
        <p:nvPicPr>
          <p:cNvPr id="90" name="Google Shape;90;p13"/>
          <p:cNvPicPr preferRelativeResize="0"/>
          <p:nvPr/>
        </p:nvPicPr>
        <p:blipFill rotWithShape="1">
          <a:blip r:embed="rId3">
            <a:alphaModFix/>
          </a:blip>
          <a:srcRect/>
          <a:stretch/>
        </p:blipFill>
        <p:spPr>
          <a:xfrm>
            <a:off x="-3048" y="609600"/>
            <a:ext cx="2695575" cy="1190625"/>
          </a:xfrm>
          <a:prstGeom prst="rect">
            <a:avLst/>
          </a:prstGeom>
          <a:noFill/>
          <a:ln>
            <a:noFill/>
          </a:ln>
        </p:spPr>
      </p:pic>
      <p:sp>
        <p:nvSpPr>
          <p:cNvPr id="91" name="Google Shape;91;p13"/>
          <p:cNvSpPr txBox="1"/>
          <p:nvPr/>
        </p:nvSpPr>
        <p:spPr>
          <a:xfrm>
            <a:off x="1633728" y="3276600"/>
            <a:ext cx="6400800" cy="8382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dk1"/>
              </a:buClr>
              <a:buSzPts val="3200"/>
              <a:buFont typeface="Arial"/>
              <a:buNone/>
            </a:pPr>
            <a:r>
              <a:rPr lang="en-US" sz="3200" b="0" i="0" u="none" strike="noStrike" cap="none">
                <a:solidFill>
                  <a:schemeClr val="dk1"/>
                </a:solidFill>
                <a:latin typeface="Calibri"/>
                <a:ea typeface="Calibri"/>
                <a:cs typeface="Calibri"/>
                <a:sym typeface="Calibri"/>
              </a:rPr>
              <a:t>BATCH NUMBER : </a:t>
            </a:r>
            <a:r>
              <a:rPr lang="en-US" sz="3200">
                <a:solidFill>
                  <a:schemeClr val="dk1"/>
                </a:solidFill>
                <a:latin typeface="Calibri"/>
                <a:ea typeface="Calibri"/>
                <a:cs typeface="Calibri"/>
                <a:sym typeface="Calibri"/>
              </a:rPr>
              <a:t>5</a:t>
            </a:r>
            <a:endParaRPr/>
          </a:p>
        </p:txBody>
      </p:sp>
      <p:graphicFrame>
        <p:nvGraphicFramePr>
          <p:cNvPr id="92" name="Google Shape;92;p13"/>
          <p:cNvGraphicFramePr/>
          <p:nvPr/>
        </p:nvGraphicFramePr>
        <p:xfrm>
          <a:off x="304800" y="4114800"/>
          <a:ext cx="8305800" cy="2133600"/>
        </p:xfrm>
        <a:graphic>
          <a:graphicData uri="http://schemas.openxmlformats.org/drawingml/2006/table">
            <a:tbl>
              <a:tblPr firstRow="1" bandRow="1">
                <a:noFill/>
                <a:tableStyleId>{74EC3592-984C-4151-AD70-DFD7854177C3}</a:tableStyleId>
              </a:tblPr>
              <a:tblGrid>
                <a:gridCol w="4152900">
                  <a:extLst>
                    <a:ext uri="{9D8B030D-6E8A-4147-A177-3AD203B41FA5}">
                      <a16:colId xmlns:a16="http://schemas.microsoft.com/office/drawing/2014/main" val="20000"/>
                    </a:ext>
                  </a:extLst>
                </a:gridCol>
                <a:gridCol w="4152900">
                  <a:extLst>
                    <a:ext uri="{9D8B030D-6E8A-4147-A177-3AD203B41FA5}">
                      <a16:colId xmlns:a16="http://schemas.microsoft.com/office/drawing/2014/main" val="20001"/>
                    </a:ext>
                  </a:extLst>
                </a:gridCol>
              </a:tblGrid>
              <a:tr h="383750">
                <a:tc>
                  <a:txBody>
                    <a:bodyPr/>
                    <a:lstStyle/>
                    <a:p>
                      <a:pPr marL="0" marR="0" lvl="0" indent="0" algn="l" rtl="0">
                        <a:spcBef>
                          <a:spcPts val="0"/>
                        </a:spcBef>
                        <a:spcAft>
                          <a:spcPts val="0"/>
                        </a:spcAft>
                        <a:buNone/>
                      </a:pPr>
                      <a:r>
                        <a:rPr lang="en-US" sz="1800" u="none" strike="noStrike" cap="none"/>
                        <a:t>Team Members </a:t>
                      </a:r>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a:t>Supervisor</a:t>
                      </a:r>
                      <a:endParaRPr/>
                    </a:p>
                  </a:txBody>
                  <a:tcPr marL="91450" marR="91450" marT="45725" marB="45725"/>
                </a:tc>
                <a:extLst>
                  <a:ext uri="{0D108BD9-81ED-4DB2-BD59-A6C34878D82A}">
                    <a16:rowId xmlns:a16="http://schemas.microsoft.com/office/drawing/2014/main" val="10000"/>
                  </a:ext>
                </a:extLst>
              </a:tr>
              <a:tr h="1749850">
                <a:tc>
                  <a:txBody>
                    <a:bodyPr/>
                    <a:lstStyle/>
                    <a:p>
                      <a:pPr marL="0" lvl="0" indent="0" algn="l" rtl="0">
                        <a:spcBef>
                          <a:spcPts val="0"/>
                        </a:spcBef>
                        <a:spcAft>
                          <a:spcPts val="0"/>
                        </a:spcAft>
                        <a:buClr>
                          <a:schemeClr val="dk1"/>
                        </a:buClr>
                        <a:buFont typeface="Arial"/>
                        <a:buNone/>
                      </a:pPr>
                      <a:r>
                        <a:rPr lang="en-US" sz="1800"/>
                        <a:t>KARTHIK M(RA2011032020010)</a:t>
                      </a:r>
                      <a:endParaRPr sz="1800"/>
                    </a:p>
                    <a:p>
                      <a:pPr marL="0" lvl="0" indent="0" algn="l" rtl="0">
                        <a:spcBef>
                          <a:spcPts val="0"/>
                        </a:spcBef>
                        <a:spcAft>
                          <a:spcPts val="0"/>
                        </a:spcAft>
                        <a:buClr>
                          <a:schemeClr val="dk1"/>
                        </a:buClr>
                        <a:buFont typeface="Arial"/>
                        <a:buNone/>
                      </a:pPr>
                      <a:r>
                        <a:rPr lang="en-US" sz="1800"/>
                        <a:t>ARULNIDHI A(RA2011032020031)</a:t>
                      </a:r>
                      <a:endParaRPr sz="1800"/>
                    </a:p>
                    <a:p>
                      <a:pPr marL="0" lvl="0" indent="0" algn="l" rtl="0">
                        <a:spcBef>
                          <a:spcPts val="0"/>
                        </a:spcBef>
                        <a:spcAft>
                          <a:spcPts val="0"/>
                        </a:spcAft>
                        <a:buClr>
                          <a:schemeClr val="dk1"/>
                        </a:buClr>
                        <a:buFont typeface="Arial"/>
                        <a:buNone/>
                      </a:pPr>
                      <a:r>
                        <a:rPr lang="en-US" sz="1800"/>
                        <a:t>DHIWAKAR S (RA2011032020037)</a:t>
                      </a:r>
                      <a:endParaRPr sz="1800"/>
                    </a:p>
                    <a:p>
                      <a:pPr marL="0" lvl="0" indent="0" algn="l" rtl="0">
                        <a:spcBef>
                          <a:spcPts val="0"/>
                        </a:spcBef>
                        <a:spcAft>
                          <a:spcPts val="0"/>
                        </a:spcAft>
                        <a:buClr>
                          <a:schemeClr val="dk1"/>
                        </a:buClr>
                        <a:buFont typeface="Arial"/>
                        <a:buNone/>
                      </a:pPr>
                      <a:r>
                        <a:rPr lang="en-US" sz="1800"/>
                        <a:t>IV YEAR, CSE-IOT</a:t>
                      </a:r>
                      <a:endParaRPr sz="1800"/>
                    </a:p>
                    <a:p>
                      <a:pPr marL="0" lvl="0" indent="0" algn="l" rtl="0">
                        <a:spcBef>
                          <a:spcPts val="0"/>
                        </a:spcBef>
                        <a:spcAft>
                          <a:spcPts val="0"/>
                        </a:spcAft>
                        <a:buClr>
                          <a:schemeClr val="dk1"/>
                        </a:buClr>
                        <a:buFont typeface="Arial"/>
                        <a:buNone/>
                      </a:pPr>
                      <a:r>
                        <a:rPr lang="en-US" sz="1800"/>
                        <a:t>SRMIST, RAMAPURAM CAMPUS</a:t>
                      </a:r>
                      <a:endParaRPr sz="1800"/>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a:t>NAME:Dr. JOSPIN JEYA J, M.E., Ph.D.,</a:t>
                      </a:r>
                      <a:endParaRPr sz="1800"/>
                    </a:p>
                    <a:p>
                      <a:pPr marL="0" lvl="0" indent="0" algn="l" rtl="0">
                        <a:spcBef>
                          <a:spcPts val="0"/>
                        </a:spcBef>
                        <a:spcAft>
                          <a:spcPts val="0"/>
                        </a:spcAft>
                        <a:buClr>
                          <a:schemeClr val="dk1"/>
                        </a:buClr>
                        <a:buSzPts val="1800"/>
                        <a:buFont typeface="Calibri"/>
                        <a:buNone/>
                      </a:pPr>
                      <a:r>
                        <a:rPr lang="en-US" sz="1800"/>
                        <a:t>ASSISTANT PROFESSOR</a:t>
                      </a:r>
                      <a:endParaRPr sz="1800"/>
                    </a:p>
                    <a:p>
                      <a:pPr marL="0" lvl="0" indent="0" algn="l" rtl="0">
                        <a:spcBef>
                          <a:spcPts val="0"/>
                        </a:spcBef>
                        <a:spcAft>
                          <a:spcPts val="0"/>
                        </a:spcAft>
                        <a:buClr>
                          <a:schemeClr val="dk1"/>
                        </a:buClr>
                        <a:buSzPts val="1800"/>
                        <a:buFont typeface="Calibri"/>
                        <a:buNone/>
                      </a:pPr>
                      <a:r>
                        <a:rPr lang="en-US" sz="1800"/>
                        <a:t>COMPUTER SCIENCE &amp; ENGINEERING</a:t>
                      </a:r>
                      <a:endParaRPr sz="1800"/>
                    </a:p>
                    <a:p>
                      <a:pPr marL="0" lvl="0" indent="0" algn="l" rtl="0">
                        <a:spcBef>
                          <a:spcPts val="0"/>
                        </a:spcBef>
                        <a:spcAft>
                          <a:spcPts val="0"/>
                        </a:spcAft>
                        <a:buClr>
                          <a:schemeClr val="dk1"/>
                        </a:buClr>
                        <a:buSzPts val="1800"/>
                        <a:buFont typeface="Calibri"/>
                        <a:buNone/>
                      </a:pPr>
                      <a:r>
                        <a:rPr lang="en-US" sz="1800"/>
                        <a:t>SRMIST, RAMAPURAM CAMPUS.</a:t>
                      </a:r>
                      <a:endParaRPr sz="1800"/>
                    </a:p>
                  </a:txBody>
                  <a:tcPr marL="91450" marR="91450" marT="45725" marB="45725"/>
                </a:tc>
                <a:extLst>
                  <a:ext uri="{0D108BD9-81ED-4DB2-BD59-A6C34878D82A}">
                    <a16:rowId xmlns:a16="http://schemas.microsoft.com/office/drawing/2014/main" val="10001"/>
                  </a:ext>
                </a:extLst>
              </a:tr>
            </a:tbl>
          </a:graphicData>
        </a:graphic>
      </p:graphicFrame>
      <p:sp>
        <p:nvSpPr>
          <p:cNvPr id="93" name="Google Shape;93;p13"/>
          <p:cNvSpPr txBox="1">
            <a:spLocks noGrp="1"/>
          </p:cNvSpPr>
          <p:nvPr>
            <p:ph type="ftr" idx="11"/>
          </p:nvPr>
        </p:nvSpPr>
        <p:spPr>
          <a:xfrm>
            <a:off x="533400" y="6356351"/>
            <a:ext cx="8077200" cy="27304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Date							Slide Number</a:t>
            </a:r>
            <a:endParaRPr/>
          </a:p>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Agenda</a:t>
            </a:r>
            <a:endParaRPr/>
          </a:p>
        </p:txBody>
      </p:sp>
      <p:sp>
        <p:nvSpPr>
          <p:cNvPr id="99" name="Google Shape;99;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77190" algn="l" rtl="0">
              <a:spcBef>
                <a:spcPts val="0"/>
              </a:spcBef>
              <a:spcAft>
                <a:spcPts val="0"/>
              </a:spcAft>
              <a:buClr>
                <a:srgbClr val="000000"/>
              </a:buClr>
              <a:buSzPct val="100000"/>
              <a:buFont typeface="Arial"/>
              <a:buChar char="•"/>
            </a:pPr>
            <a:r>
              <a:rPr lang="en-US" sz="1800" b="0" i="0" u="none" strike="noStrike">
                <a:solidFill>
                  <a:srgbClr val="000000"/>
                </a:solidFill>
                <a:latin typeface="Calibri"/>
                <a:ea typeface="Calibri"/>
                <a:cs typeface="Calibri"/>
                <a:sym typeface="Calibri"/>
              </a:rPr>
              <a:t>Abstract</a:t>
            </a:r>
            <a:endParaRPr sz="1800" b="0" i="0" u="none" strike="noStrike">
              <a:solidFill>
                <a:srgbClr val="000000"/>
              </a:solidFill>
              <a:latin typeface="Arial"/>
              <a:ea typeface="Arial"/>
              <a:cs typeface="Arial"/>
              <a:sym typeface="Arial"/>
            </a:endParaRPr>
          </a:p>
          <a:p>
            <a:pPr marL="342900" lvl="0" indent="-377190" algn="l" rtl="0">
              <a:spcBef>
                <a:spcPts val="1000"/>
              </a:spcBef>
              <a:spcAft>
                <a:spcPts val="0"/>
              </a:spcAft>
              <a:buClr>
                <a:srgbClr val="000000"/>
              </a:buClr>
              <a:buSzPct val="100000"/>
              <a:buFont typeface="Arial"/>
              <a:buChar char="•"/>
            </a:pPr>
            <a:r>
              <a:rPr lang="en-US" sz="1800" b="0" i="0" u="none" strike="noStrike">
                <a:solidFill>
                  <a:srgbClr val="000000"/>
                </a:solidFill>
                <a:latin typeface="Calibri"/>
                <a:ea typeface="Calibri"/>
                <a:cs typeface="Calibri"/>
                <a:sym typeface="Calibri"/>
              </a:rPr>
              <a:t>Scope and Motivation</a:t>
            </a:r>
            <a:endParaRPr sz="1800" b="0" i="0" u="none" strike="noStrike">
              <a:solidFill>
                <a:srgbClr val="000000"/>
              </a:solidFill>
              <a:latin typeface="Arial"/>
              <a:ea typeface="Arial"/>
              <a:cs typeface="Arial"/>
              <a:sym typeface="Arial"/>
            </a:endParaRPr>
          </a:p>
          <a:p>
            <a:pPr marL="342900" lvl="0" indent="-377190" algn="l" rtl="0">
              <a:spcBef>
                <a:spcPts val="1000"/>
              </a:spcBef>
              <a:spcAft>
                <a:spcPts val="0"/>
              </a:spcAft>
              <a:buClr>
                <a:srgbClr val="000000"/>
              </a:buClr>
              <a:buSzPct val="100000"/>
              <a:buFont typeface="Arial"/>
              <a:buChar char="•"/>
            </a:pPr>
            <a:r>
              <a:rPr lang="en-US" sz="1800">
                <a:solidFill>
                  <a:srgbClr val="000000"/>
                </a:solidFill>
                <a:latin typeface="Calibri"/>
                <a:ea typeface="Calibri"/>
                <a:cs typeface="Calibri"/>
                <a:sym typeface="Calibri"/>
              </a:rPr>
              <a:t>Introduction</a:t>
            </a:r>
            <a:endParaRPr/>
          </a:p>
          <a:p>
            <a:pPr marL="342900" lvl="0" indent="-377190" algn="l" rtl="0">
              <a:spcBef>
                <a:spcPts val="1000"/>
              </a:spcBef>
              <a:spcAft>
                <a:spcPts val="0"/>
              </a:spcAft>
              <a:buClr>
                <a:srgbClr val="000000"/>
              </a:buClr>
              <a:buSzPct val="100000"/>
              <a:buFont typeface="Arial"/>
              <a:buChar char="•"/>
            </a:pPr>
            <a:r>
              <a:rPr lang="en-US" sz="1800" b="0" i="0" u="none" strike="noStrike">
                <a:solidFill>
                  <a:srgbClr val="000000"/>
                </a:solidFill>
                <a:latin typeface="Calibri"/>
                <a:ea typeface="Calibri"/>
                <a:cs typeface="Calibri"/>
                <a:sym typeface="Calibri"/>
              </a:rPr>
              <a:t>Literature Survey </a:t>
            </a:r>
            <a:endParaRPr/>
          </a:p>
          <a:p>
            <a:pPr marL="342900" lvl="0" indent="-377190" algn="l" rtl="0">
              <a:spcBef>
                <a:spcPts val="1000"/>
              </a:spcBef>
              <a:spcAft>
                <a:spcPts val="0"/>
              </a:spcAft>
              <a:buClr>
                <a:srgbClr val="000000"/>
              </a:buClr>
              <a:buSzPct val="100000"/>
              <a:buFont typeface="Arial"/>
              <a:buChar char="•"/>
            </a:pPr>
            <a:r>
              <a:rPr lang="en-US" sz="1800">
                <a:solidFill>
                  <a:srgbClr val="000000"/>
                </a:solidFill>
                <a:latin typeface="Calibri"/>
                <a:ea typeface="Calibri"/>
                <a:cs typeface="Calibri"/>
                <a:sym typeface="Calibri"/>
              </a:rPr>
              <a:t>Objective</a:t>
            </a:r>
            <a:endParaRPr sz="1800" b="0" i="0" u="none" strike="noStrike">
              <a:solidFill>
                <a:srgbClr val="000000"/>
              </a:solidFill>
              <a:latin typeface="Calibri"/>
              <a:ea typeface="Calibri"/>
              <a:cs typeface="Calibri"/>
              <a:sym typeface="Calibri"/>
            </a:endParaRPr>
          </a:p>
          <a:p>
            <a:pPr marL="342900" lvl="0" indent="-377190" algn="l" rtl="0">
              <a:spcBef>
                <a:spcPts val="1000"/>
              </a:spcBef>
              <a:spcAft>
                <a:spcPts val="0"/>
              </a:spcAft>
              <a:buClr>
                <a:srgbClr val="000000"/>
              </a:buClr>
              <a:buSzPct val="100000"/>
              <a:buFont typeface="Arial"/>
              <a:buChar char="•"/>
            </a:pPr>
            <a:r>
              <a:rPr lang="en-US" sz="1800">
                <a:solidFill>
                  <a:srgbClr val="000000"/>
                </a:solidFill>
                <a:latin typeface="Calibri"/>
                <a:ea typeface="Calibri"/>
                <a:cs typeface="Calibri"/>
                <a:sym typeface="Calibri"/>
              </a:rPr>
              <a:t>Problem Statement</a:t>
            </a:r>
            <a:endParaRPr/>
          </a:p>
          <a:p>
            <a:pPr marL="342900" lvl="0" indent="-377190" algn="l" rtl="0">
              <a:spcBef>
                <a:spcPts val="1000"/>
              </a:spcBef>
              <a:spcAft>
                <a:spcPts val="0"/>
              </a:spcAft>
              <a:buClr>
                <a:srgbClr val="000000"/>
              </a:buClr>
              <a:buSzPct val="100000"/>
              <a:buFont typeface="Arial"/>
              <a:buChar char="•"/>
            </a:pPr>
            <a:r>
              <a:rPr lang="en-US" sz="1800">
                <a:solidFill>
                  <a:srgbClr val="000000"/>
                </a:solidFill>
                <a:latin typeface="Calibri"/>
                <a:ea typeface="Calibri"/>
                <a:cs typeface="Calibri"/>
                <a:sym typeface="Calibri"/>
              </a:rPr>
              <a:t>Proposed Work</a:t>
            </a:r>
            <a:endParaRPr/>
          </a:p>
          <a:p>
            <a:pPr marL="342900" lvl="0" indent="-377190" algn="l" rtl="0">
              <a:spcBef>
                <a:spcPts val="1000"/>
              </a:spcBef>
              <a:spcAft>
                <a:spcPts val="0"/>
              </a:spcAft>
              <a:buClr>
                <a:srgbClr val="000000"/>
              </a:buClr>
              <a:buSzPct val="100000"/>
              <a:buFont typeface="Arial"/>
              <a:buChar char="•"/>
            </a:pPr>
            <a:r>
              <a:rPr lang="en-US" sz="1800" b="0" i="0" u="none" strike="noStrike">
                <a:solidFill>
                  <a:srgbClr val="000000"/>
                </a:solidFill>
                <a:latin typeface="Calibri"/>
                <a:ea typeface="Calibri"/>
                <a:cs typeface="Calibri"/>
                <a:sym typeface="Calibri"/>
              </a:rPr>
              <a:t>Software &amp; Hardware Requirements</a:t>
            </a:r>
            <a:endParaRPr/>
          </a:p>
          <a:p>
            <a:pPr marL="342900" lvl="0" indent="-377190" algn="l" rtl="0">
              <a:spcBef>
                <a:spcPts val="1000"/>
              </a:spcBef>
              <a:spcAft>
                <a:spcPts val="0"/>
              </a:spcAft>
              <a:buClr>
                <a:srgbClr val="000000"/>
              </a:buClr>
              <a:buSzPct val="100000"/>
              <a:buFont typeface="Arial"/>
              <a:buChar char="•"/>
            </a:pPr>
            <a:r>
              <a:rPr lang="en-US" sz="1800" b="0" i="0" u="none" strike="noStrike">
                <a:solidFill>
                  <a:srgbClr val="000000"/>
                </a:solidFill>
                <a:latin typeface="Calibri"/>
                <a:ea typeface="Calibri"/>
                <a:cs typeface="Calibri"/>
                <a:sym typeface="Calibri"/>
              </a:rPr>
              <a:t>References</a:t>
            </a:r>
            <a:endParaRPr/>
          </a:p>
          <a:p>
            <a:pPr marL="127000" lvl="0" indent="0" algn="l" rtl="0">
              <a:spcBef>
                <a:spcPts val="400"/>
              </a:spcBef>
              <a:spcAft>
                <a:spcPts val="0"/>
              </a:spcAft>
              <a:buClr>
                <a:schemeClr val="dk1"/>
              </a:buClr>
              <a:buSzPct val="100000"/>
              <a:buNone/>
            </a:pPr>
            <a:endParaRPr/>
          </a:p>
        </p:txBody>
      </p:sp>
      <p:sp>
        <p:nvSpPr>
          <p:cNvPr id="100" name="Google Shape;100;p14"/>
          <p:cNvSpPr txBox="1">
            <a:spLocks noGrp="1"/>
          </p:cNvSpPr>
          <p:nvPr>
            <p:ph type="ftr" idx="11"/>
          </p:nvPr>
        </p:nvSpPr>
        <p:spPr>
          <a:xfrm>
            <a:off x="457200" y="6356350"/>
            <a:ext cx="8229600" cy="42545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ABSTRACT</a:t>
            </a:r>
            <a:endParaRPr/>
          </a:p>
        </p:txBody>
      </p:sp>
      <p:sp>
        <p:nvSpPr>
          <p:cNvPr id="106" name="Google Shape;106;p15"/>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a:t>
            </a:r>
            <a:endParaRPr/>
          </a:p>
          <a:p>
            <a:pPr marL="0" lvl="0" indent="0" algn="ctr" rtl="0">
              <a:spcBef>
                <a:spcPts val="0"/>
              </a:spcBef>
              <a:spcAft>
                <a:spcPts val="0"/>
              </a:spcAft>
              <a:buNone/>
            </a:pPr>
            <a:endParaRPr/>
          </a:p>
        </p:txBody>
      </p:sp>
      <p:sp>
        <p:nvSpPr>
          <p:cNvPr id="107" name="Google Shape;107;p15"/>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Autofit/>
          </a:bodyPr>
          <a:lstStyle/>
          <a:p>
            <a:pPr marL="457200" lvl="0" indent="-323532" algn="just" rtl="0">
              <a:lnSpc>
                <a:spcPct val="90000"/>
              </a:lnSpc>
              <a:spcBef>
                <a:spcPts val="360"/>
              </a:spcBef>
              <a:spcAft>
                <a:spcPts val="0"/>
              </a:spcAft>
              <a:buSzPts val="1495"/>
              <a:buFont typeface="Times New Roman"/>
              <a:buChar char="•"/>
            </a:pPr>
            <a:r>
              <a:rPr lang="en-US" sz="2400" dirty="0">
                <a:latin typeface="Times New Roman"/>
                <a:ea typeface="Times New Roman"/>
                <a:cs typeface="Times New Roman"/>
                <a:sym typeface="Times New Roman"/>
              </a:rPr>
              <a:t>Despite being studied extensively for a few decades, handwritten character recognition (HCR) is still considered a challenging learning problem in pattern recognition, and there is very limited research on script independent models. This is mainly because of similarity in structure of characters, different handwriting styles, noisy datasets, diversity of scripts, focus of the conventional research on handcrafted feature extraction techniques, and unavailability of public datasets and code-repositories to reproduce the results. On the other hand, deep learning has witnessed huge success in different areas of pattern recognition, including HCR, and provides an end-to-end learning.</a:t>
            </a:r>
            <a:endParaRPr sz="2400" dirty="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Scope and Motivation</a:t>
            </a:r>
            <a:endParaRPr/>
          </a:p>
        </p:txBody>
      </p:sp>
      <p:sp>
        <p:nvSpPr>
          <p:cNvPr id="113" name="Google Shape;113;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457200" lvl="0" indent="-334327" algn="just" rtl="0">
              <a:spcBef>
                <a:spcPts val="0"/>
              </a:spcBef>
              <a:spcAft>
                <a:spcPts val="0"/>
              </a:spcAft>
              <a:buSzPct val="56250"/>
              <a:buFont typeface="Times New Roman"/>
              <a:buChar char="•"/>
            </a:pPr>
            <a:r>
              <a:rPr lang="en-US" dirty="0">
                <a:latin typeface="Times New Roman"/>
                <a:ea typeface="Times New Roman"/>
                <a:cs typeface="Times New Roman"/>
                <a:sym typeface="Times New Roman"/>
              </a:rPr>
              <a:t>Archives and libraries throughout the world hold billions of historical manuscripts. Many of these documents are already digitized into images, but their access is limited because the contents are not available in a symbolic format that would allow modern treatment of textual matters such as editing, indexing, and retrieval. Handwritten Character Recognition (HCR) is the cornerstone in this situation which aims to provide automatic ways of transcribing these documents. This motivates us to develop this project.</a:t>
            </a:r>
            <a:endParaRPr dirty="0">
              <a:latin typeface="Times New Roman"/>
              <a:ea typeface="Times New Roman"/>
              <a:cs typeface="Times New Roman"/>
              <a:sym typeface="Times New Roman"/>
            </a:endParaRPr>
          </a:p>
          <a:p>
            <a:pPr marL="342900" lvl="0" indent="-139700" algn="l" rtl="0">
              <a:spcBef>
                <a:spcPts val="0"/>
              </a:spcBef>
              <a:spcAft>
                <a:spcPts val="0"/>
              </a:spcAft>
              <a:buClr>
                <a:schemeClr val="dk1"/>
              </a:buClr>
              <a:buSzPct val="100000"/>
              <a:buNone/>
            </a:pPr>
            <a:endParaRPr dirty="0"/>
          </a:p>
        </p:txBody>
      </p:sp>
      <p:sp>
        <p:nvSpPr>
          <p:cNvPr id="114" name="Google Shape;114;p16"/>
          <p:cNvSpPr txBox="1">
            <a:spLocks noGrp="1"/>
          </p:cNvSpPr>
          <p:nvPr>
            <p:ph type="ftr" idx="11"/>
          </p:nvPr>
        </p:nvSpPr>
        <p:spPr>
          <a:xfrm>
            <a:off x="31242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Introduction</a:t>
            </a:r>
            <a:endParaRPr/>
          </a:p>
        </p:txBody>
      </p:sp>
      <p:sp>
        <p:nvSpPr>
          <p:cNvPr id="120" name="Google Shape;120;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20000"/>
          </a:bodyPr>
          <a:lstStyle/>
          <a:p>
            <a:pPr marL="457200" lvl="0" indent="-325755" algn="just" rtl="0">
              <a:spcBef>
                <a:spcPts val="0"/>
              </a:spcBef>
              <a:spcAft>
                <a:spcPts val="0"/>
              </a:spcAft>
              <a:buSzPct val="56250"/>
              <a:buChar char="•"/>
            </a:pPr>
            <a:r>
              <a:rPr lang="en-US" dirty="0"/>
              <a:t>Handwritten character recognition (HCR) is a widely studied and an important pattern recognition problem. It has a variety of useful applications, e.g., digitizing ancient documents, converting handwritten notes on tablets to text, reading doctor prescriptions and in the automated processing of forms in railways, post-offices and government offices, in developing applications to help visually impaired people, and in classroom teaching etc. Handwriting recognition, depending upon the type of data as online and offline, can be broadly classified into two categories and so need different techniques for recognition.</a:t>
            </a:r>
            <a:endParaRPr dirty="0"/>
          </a:p>
          <a:p>
            <a:pPr marL="342900" lvl="0" indent="-139700" algn="l" rtl="0">
              <a:spcBef>
                <a:spcPts val="0"/>
              </a:spcBef>
              <a:spcAft>
                <a:spcPts val="0"/>
              </a:spcAft>
              <a:buClr>
                <a:schemeClr val="dk1"/>
              </a:buClr>
              <a:buSzPct val="100000"/>
              <a:buNone/>
            </a:pPr>
            <a:endParaRPr dirty="0"/>
          </a:p>
        </p:txBody>
      </p:sp>
      <p:sp>
        <p:nvSpPr>
          <p:cNvPr id="121" name="Google Shape;121;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 INTERNET OF THINGS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Literature Survey</a:t>
            </a:r>
            <a:endParaRPr/>
          </a:p>
        </p:txBody>
      </p:sp>
      <p:graphicFrame>
        <p:nvGraphicFramePr>
          <p:cNvPr id="127" name="Google Shape;127;p18"/>
          <p:cNvGraphicFramePr/>
          <p:nvPr>
            <p:extLst>
              <p:ext uri="{D42A27DB-BD31-4B8C-83A1-F6EECF244321}">
                <p14:modId xmlns:p14="http://schemas.microsoft.com/office/powerpoint/2010/main" val="3077374240"/>
              </p:ext>
            </p:extLst>
          </p:nvPr>
        </p:nvGraphicFramePr>
        <p:xfrm>
          <a:off x="457200" y="1600200"/>
          <a:ext cx="8229625" cy="4846340"/>
        </p:xfrm>
        <a:graphic>
          <a:graphicData uri="http://schemas.openxmlformats.org/drawingml/2006/table">
            <a:tbl>
              <a:tblPr firstRow="1" bandRow="1">
                <a:noFill/>
                <a:tableStyleId>{35CD3641-CC82-49D3-8CCD-38F6F3F50373}</a:tableStyleId>
              </a:tblPr>
              <a:tblGrid>
                <a:gridCol w="1645925">
                  <a:extLst>
                    <a:ext uri="{9D8B030D-6E8A-4147-A177-3AD203B41FA5}">
                      <a16:colId xmlns:a16="http://schemas.microsoft.com/office/drawing/2014/main" val="20000"/>
                    </a:ext>
                  </a:extLst>
                </a:gridCol>
                <a:gridCol w="1645925">
                  <a:extLst>
                    <a:ext uri="{9D8B030D-6E8A-4147-A177-3AD203B41FA5}">
                      <a16:colId xmlns:a16="http://schemas.microsoft.com/office/drawing/2014/main" val="20001"/>
                    </a:ext>
                  </a:extLst>
                </a:gridCol>
                <a:gridCol w="1645925">
                  <a:extLst>
                    <a:ext uri="{9D8B030D-6E8A-4147-A177-3AD203B41FA5}">
                      <a16:colId xmlns:a16="http://schemas.microsoft.com/office/drawing/2014/main" val="20002"/>
                    </a:ext>
                  </a:extLst>
                </a:gridCol>
                <a:gridCol w="1645925">
                  <a:extLst>
                    <a:ext uri="{9D8B030D-6E8A-4147-A177-3AD203B41FA5}">
                      <a16:colId xmlns:a16="http://schemas.microsoft.com/office/drawing/2014/main" val="20003"/>
                    </a:ext>
                  </a:extLst>
                </a:gridCol>
                <a:gridCol w="1645925">
                  <a:extLst>
                    <a:ext uri="{9D8B030D-6E8A-4147-A177-3AD203B41FA5}">
                      <a16:colId xmlns:a16="http://schemas.microsoft.com/office/drawing/2014/main" val="20004"/>
                    </a:ext>
                  </a:extLst>
                </a:gridCol>
              </a:tblGrid>
              <a:tr h="370850">
                <a:tc>
                  <a:txBody>
                    <a:bodyPr/>
                    <a:lstStyle/>
                    <a:p>
                      <a:pPr marL="0" marR="0" lvl="0" indent="0" algn="l" rtl="0">
                        <a:spcBef>
                          <a:spcPts val="0"/>
                        </a:spcBef>
                        <a:spcAft>
                          <a:spcPts val="0"/>
                        </a:spcAft>
                        <a:buNone/>
                      </a:pPr>
                      <a:r>
                        <a:rPr lang="en-US" sz="1800"/>
                        <a:t>S.No.</a:t>
                      </a:r>
                      <a:endParaRPr/>
                    </a:p>
                  </a:txBody>
                  <a:tcPr marL="91450" marR="91450" marT="45725" marB="45725"/>
                </a:tc>
                <a:tc>
                  <a:txBody>
                    <a:bodyPr/>
                    <a:lstStyle/>
                    <a:p>
                      <a:pPr marL="0" marR="0" lvl="0" indent="0" algn="l" rtl="0">
                        <a:spcBef>
                          <a:spcPts val="0"/>
                        </a:spcBef>
                        <a:spcAft>
                          <a:spcPts val="0"/>
                        </a:spcAft>
                        <a:buNone/>
                      </a:pPr>
                      <a:r>
                        <a:rPr lang="en-US" sz="1800"/>
                        <a:t>Title of the Paper</a:t>
                      </a:r>
                      <a:endParaRPr/>
                    </a:p>
                  </a:txBody>
                  <a:tcPr marL="91450" marR="91450" marT="45725" marB="45725"/>
                </a:tc>
                <a:tc>
                  <a:txBody>
                    <a:bodyPr/>
                    <a:lstStyle/>
                    <a:p>
                      <a:pPr marL="0" marR="0" lvl="0" indent="0" algn="l" rtl="0">
                        <a:spcBef>
                          <a:spcPts val="0"/>
                        </a:spcBef>
                        <a:spcAft>
                          <a:spcPts val="0"/>
                        </a:spcAft>
                        <a:buNone/>
                      </a:pPr>
                      <a:r>
                        <a:rPr lang="en-US" sz="1800"/>
                        <a:t>Year</a:t>
                      </a:r>
                      <a:endParaRPr/>
                    </a:p>
                  </a:txBody>
                  <a:tcPr marL="91450" marR="91450" marT="45725" marB="45725"/>
                </a:tc>
                <a:tc>
                  <a:txBody>
                    <a:bodyPr/>
                    <a:lstStyle/>
                    <a:p>
                      <a:pPr marL="0" marR="0" lvl="0" indent="0" algn="l" rtl="0">
                        <a:spcBef>
                          <a:spcPts val="0"/>
                        </a:spcBef>
                        <a:spcAft>
                          <a:spcPts val="0"/>
                        </a:spcAft>
                        <a:buNone/>
                      </a:pPr>
                      <a:r>
                        <a:rPr lang="en-US" sz="1800"/>
                        <a:t>Journal/Conference Name</a:t>
                      </a:r>
                      <a:endParaRPr/>
                    </a:p>
                  </a:txBody>
                  <a:tcPr marL="91450" marR="91450" marT="45725" marB="45725"/>
                </a:tc>
                <a:tc>
                  <a:txBody>
                    <a:bodyPr/>
                    <a:lstStyle/>
                    <a:p>
                      <a:pPr marL="0" marR="0" lvl="0" indent="0" algn="l" rtl="0">
                        <a:spcBef>
                          <a:spcPts val="0"/>
                        </a:spcBef>
                        <a:spcAft>
                          <a:spcPts val="0"/>
                        </a:spcAft>
                        <a:buNone/>
                      </a:pPr>
                      <a:r>
                        <a:rPr lang="en-US" sz="1800"/>
                        <a:t>Inferences</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800" dirty="0">
                          <a:latin typeface="Times New Roman"/>
                          <a:ea typeface="Times New Roman"/>
                          <a:cs typeface="Times New Roman"/>
                          <a:sym typeface="Times New Roman"/>
                        </a:rPr>
                        <a:t>Two Decades of Bengali Handwritten Digit Recognition: A Survey</a:t>
                      </a:r>
                      <a:endParaRPr sz="1800" dirty="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2022</a:t>
                      </a:r>
                      <a:endParaRPr sz="18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800" dirty="0"/>
                        <a:t>Department of Computer Science and Engineering, Islamic University of Technology, Dhaka, Bangladesh</a:t>
                      </a:r>
                      <a:endParaRPr sz="1800" dirty="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sz="1800" dirty="0">
                          <a:latin typeface="Times New Roman"/>
                          <a:ea typeface="Times New Roman"/>
                          <a:cs typeface="Times New Roman"/>
                          <a:sym typeface="Times New Roman"/>
                        </a:rPr>
                        <a:t>The characteristics and inherent ambiguities of Bengali handwritten digits along</a:t>
                      </a:r>
                      <a:endParaRPr sz="1800" dirty="0">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800" dirty="0">
                          <a:latin typeface="Times New Roman"/>
                          <a:ea typeface="Times New Roman"/>
                          <a:cs typeface="Times New Roman"/>
                          <a:sym typeface="Times New Roman"/>
                        </a:rPr>
                        <a:t>with insights on the state-of-the-art works that are proposed in the last two</a:t>
                      </a:r>
                      <a:endParaRPr sz="1800" dirty="0">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800" dirty="0">
                          <a:latin typeface="Times New Roman"/>
                          <a:ea typeface="Times New Roman"/>
                          <a:cs typeface="Times New Roman"/>
                          <a:sym typeface="Times New Roman"/>
                        </a:rPr>
                        <a:t>decades have been analyzed.</a:t>
                      </a:r>
                      <a:endParaRPr sz="1800" dirty="0">
                        <a:latin typeface="Times New Roman"/>
                        <a:ea typeface="Times New Roman"/>
                        <a:cs typeface="Times New Roman"/>
                        <a:sym typeface="Times New Roman"/>
                      </a:endParaRPr>
                    </a:p>
                    <a:p>
                      <a:pPr marL="0" marR="0" lvl="0" indent="0" algn="l" rtl="0">
                        <a:spcBef>
                          <a:spcPts val="0"/>
                        </a:spcBef>
                        <a:spcAft>
                          <a:spcPts val="0"/>
                        </a:spcAft>
                        <a:buNone/>
                      </a:pPr>
                      <a:endParaRPr sz="1800"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bl>
          </a:graphicData>
        </a:graphic>
      </p:graphicFrame>
      <p:sp>
        <p:nvSpPr>
          <p:cNvPr id="128" name="Google Shape;128;p18"/>
          <p:cNvSpPr txBox="1">
            <a:spLocks noGrp="1"/>
          </p:cNvSpPr>
          <p:nvPr>
            <p:ph type="ftr" idx="11"/>
          </p:nvPr>
        </p:nvSpPr>
        <p:spPr>
          <a:xfrm>
            <a:off x="3124200" y="6400799"/>
            <a:ext cx="3962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Literature Survey</a:t>
            </a:r>
            <a:endParaRPr/>
          </a:p>
        </p:txBody>
      </p:sp>
      <p:graphicFrame>
        <p:nvGraphicFramePr>
          <p:cNvPr id="134" name="Google Shape;134;p19"/>
          <p:cNvGraphicFramePr/>
          <p:nvPr>
            <p:extLst>
              <p:ext uri="{D42A27DB-BD31-4B8C-83A1-F6EECF244321}">
                <p14:modId xmlns:p14="http://schemas.microsoft.com/office/powerpoint/2010/main" val="1163844368"/>
              </p:ext>
            </p:extLst>
          </p:nvPr>
        </p:nvGraphicFramePr>
        <p:xfrm>
          <a:off x="457200" y="1600200"/>
          <a:ext cx="8229625" cy="5120660"/>
        </p:xfrm>
        <a:graphic>
          <a:graphicData uri="http://schemas.openxmlformats.org/drawingml/2006/table">
            <a:tbl>
              <a:tblPr firstRow="1" bandRow="1">
                <a:noFill/>
                <a:tableStyleId>{35CD3641-CC82-49D3-8CCD-38F6F3F50373}</a:tableStyleId>
              </a:tblPr>
              <a:tblGrid>
                <a:gridCol w="1645925">
                  <a:extLst>
                    <a:ext uri="{9D8B030D-6E8A-4147-A177-3AD203B41FA5}">
                      <a16:colId xmlns:a16="http://schemas.microsoft.com/office/drawing/2014/main" val="20000"/>
                    </a:ext>
                  </a:extLst>
                </a:gridCol>
                <a:gridCol w="1645925">
                  <a:extLst>
                    <a:ext uri="{9D8B030D-6E8A-4147-A177-3AD203B41FA5}">
                      <a16:colId xmlns:a16="http://schemas.microsoft.com/office/drawing/2014/main" val="20001"/>
                    </a:ext>
                  </a:extLst>
                </a:gridCol>
                <a:gridCol w="1645925">
                  <a:extLst>
                    <a:ext uri="{9D8B030D-6E8A-4147-A177-3AD203B41FA5}">
                      <a16:colId xmlns:a16="http://schemas.microsoft.com/office/drawing/2014/main" val="20002"/>
                    </a:ext>
                  </a:extLst>
                </a:gridCol>
                <a:gridCol w="1645925">
                  <a:extLst>
                    <a:ext uri="{9D8B030D-6E8A-4147-A177-3AD203B41FA5}">
                      <a16:colId xmlns:a16="http://schemas.microsoft.com/office/drawing/2014/main" val="20003"/>
                    </a:ext>
                  </a:extLst>
                </a:gridCol>
                <a:gridCol w="1645925">
                  <a:extLst>
                    <a:ext uri="{9D8B030D-6E8A-4147-A177-3AD203B41FA5}">
                      <a16:colId xmlns:a16="http://schemas.microsoft.com/office/drawing/2014/main" val="20004"/>
                    </a:ext>
                  </a:extLst>
                </a:gridCol>
              </a:tblGrid>
              <a:tr h="370850">
                <a:tc>
                  <a:txBody>
                    <a:bodyPr/>
                    <a:lstStyle/>
                    <a:p>
                      <a:pPr marL="0" marR="0" lvl="0" indent="0" algn="l" rtl="0">
                        <a:spcBef>
                          <a:spcPts val="0"/>
                        </a:spcBef>
                        <a:spcAft>
                          <a:spcPts val="0"/>
                        </a:spcAft>
                        <a:buNone/>
                      </a:pPr>
                      <a:r>
                        <a:rPr lang="en-US" sz="1800"/>
                        <a:t>S.No.</a:t>
                      </a:r>
                      <a:endParaRPr/>
                    </a:p>
                  </a:txBody>
                  <a:tcPr marL="91450" marR="91450" marT="45725" marB="45725"/>
                </a:tc>
                <a:tc>
                  <a:txBody>
                    <a:bodyPr/>
                    <a:lstStyle/>
                    <a:p>
                      <a:pPr marL="0" marR="0" lvl="0" indent="0" algn="l" rtl="0">
                        <a:spcBef>
                          <a:spcPts val="0"/>
                        </a:spcBef>
                        <a:spcAft>
                          <a:spcPts val="0"/>
                        </a:spcAft>
                        <a:buNone/>
                      </a:pPr>
                      <a:r>
                        <a:rPr lang="en-US" sz="1800"/>
                        <a:t>Title of the Paper</a:t>
                      </a:r>
                      <a:endParaRPr/>
                    </a:p>
                  </a:txBody>
                  <a:tcPr marL="91450" marR="91450" marT="45725" marB="45725"/>
                </a:tc>
                <a:tc>
                  <a:txBody>
                    <a:bodyPr/>
                    <a:lstStyle/>
                    <a:p>
                      <a:pPr marL="0" marR="0" lvl="0" indent="0" algn="l" rtl="0">
                        <a:spcBef>
                          <a:spcPts val="0"/>
                        </a:spcBef>
                        <a:spcAft>
                          <a:spcPts val="0"/>
                        </a:spcAft>
                        <a:buNone/>
                      </a:pPr>
                      <a:r>
                        <a:rPr lang="en-US" sz="1800"/>
                        <a:t>Year</a:t>
                      </a:r>
                      <a:endParaRPr/>
                    </a:p>
                  </a:txBody>
                  <a:tcPr marL="91450" marR="91450" marT="45725" marB="45725"/>
                </a:tc>
                <a:tc>
                  <a:txBody>
                    <a:bodyPr/>
                    <a:lstStyle/>
                    <a:p>
                      <a:pPr marL="0" marR="0" lvl="0" indent="0" algn="l" rtl="0">
                        <a:spcBef>
                          <a:spcPts val="0"/>
                        </a:spcBef>
                        <a:spcAft>
                          <a:spcPts val="0"/>
                        </a:spcAft>
                        <a:buNone/>
                      </a:pPr>
                      <a:r>
                        <a:rPr lang="en-US" sz="1800"/>
                        <a:t>Journal/Conference Name</a:t>
                      </a:r>
                      <a:endParaRPr/>
                    </a:p>
                  </a:txBody>
                  <a:tcPr marL="91450" marR="91450" marT="45725" marB="45725"/>
                </a:tc>
                <a:tc>
                  <a:txBody>
                    <a:bodyPr/>
                    <a:lstStyle/>
                    <a:p>
                      <a:pPr marL="0" marR="0" lvl="0" indent="0" algn="l" rtl="0">
                        <a:spcBef>
                          <a:spcPts val="0"/>
                        </a:spcBef>
                        <a:spcAft>
                          <a:spcPts val="0"/>
                        </a:spcAft>
                        <a:buNone/>
                      </a:pPr>
                      <a:r>
                        <a:rPr lang="en-US" sz="1800"/>
                        <a:t>Inferences</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2</a:t>
                      </a:r>
                      <a:endParaRPr sz="18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800" dirty="0">
                          <a:latin typeface="Times New Roman"/>
                          <a:ea typeface="Times New Roman"/>
                          <a:cs typeface="Times New Roman"/>
                          <a:sym typeface="Times New Roman"/>
                        </a:rPr>
                        <a:t>PHTI: Pashto Handwritten Text </a:t>
                      </a:r>
                      <a:r>
                        <a:rPr lang="en-US" sz="1800" dirty="0" err="1">
                          <a:latin typeface="Times New Roman"/>
                          <a:ea typeface="Times New Roman"/>
                          <a:cs typeface="Times New Roman"/>
                          <a:sym typeface="Times New Roman"/>
                        </a:rPr>
                        <a:t>Imagebase</a:t>
                      </a:r>
                      <a:r>
                        <a:rPr lang="en-US" sz="1800" dirty="0">
                          <a:latin typeface="Times New Roman"/>
                          <a:ea typeface="Times New Roman"/>
                          <a:cs typeface="Times New Roman"/>
                          <a:sym typeface="Times New Roman"/>
                        </a:rPr>
                        <a:t> for Deep Learning Applications</a:t>
                      </a:r>
                      <a:endParaRPr sz="1800" dirty="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2022</a:t>
                      </a:r>
                      <a:endParaRPr sz="18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800" b="0" i="0" u="none" strike="noStrike" cap="none" dirty="0">
                          <a:solidFill>
                            <a:schemeClr val="dk1"/>
                          </a:solidFill>
                          <a:effectLst/>
                          <a:latin typeface="Calibri"/>
                          <a:ea typeface="Calibri"/>
                          <a:cs typeface="Calibri"/>
                          <a:sym typeface="Arial"/>
                        </a:rPr>
                        <a:t>Department of Pashto Language, University of Malakand</a:t>
                      </a:r>
                      <a:endParaRPr sz="1800" dirty="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Addressed the unavailability of handwritten text images for the Pashto language</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to facilitate the research. Created the  largest dataset so far in the Pashto language.</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marR="0" lvl="0" indent="0" algn="l" rtl="0">
                        <a:spcBef>
                          <a:spcPts val="0"/>
                        </a:spcBef>
                        <a:spcAft>
                          <a:spcPts val="0"/>
                        </a:spcAft>
                        <a:buNone/>
                      </a:pPr>
                      <a:endParaRPr sz="1800"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bl>
          </a:graphicData>
        </a:graphic>
      </p:graphicFrame>
      <p:sp>
        <p:nvSpPr>
          <p:cNvPr id="135" name="Google Shape;135;p19"/>
          <p:cNvSpPr txBox="1">
            <a:spLocks noGrp="1"/>
          </p:cNvSpPr>
          <p:nvPr>
            <p:ph type="ftr" idx="11"/>
          </p:nvPr>
        </p:nvSpPr>
        <p:spPr>
          <a:xfrm>
            <a:off x="3124200" y="6400799"/>
            <a:ext cx="39624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Literature Survey</a:t>
            </a:r>
            <a:endParaRPr/>
          </a:p>
        </p:txBody>
      </p:sp>
      <p:graphicFrame>
        <p:nvGraphicFramePr>
          <p:cNvPr id="141" name="Google Shape;141;p20"/>
          <p:cNvGraphicFramePr/>
          <p:nvPr>
            <p:extLst>
              <p:ext uri="{D42A27DB-BD31-4B8C-83A1-F6EECF244321}">
                <p14:modId xmlns:p14="http://schemas.microsoft.com/office/powerpoint/2010/main" val="2556692022"/>
              </p:ext>
            </p:extLst>
          </p:nvPr>
        </p:nvGraphicFramePr>
        <p:xfrm>
          <a:off x="457200" y="1600200"/>
          <a:ext cx="8229625" cy="4023380"/>
        </p:xfrm>
        <a:graphic>
          <a:graphicData uri="http://schemas.openxmlformats.org/drawingml/2006/table">
            <a:tbl>
              <a:tblPr firstRow="1" bandRow="1">
                <a:noFill/>
                <a:tableStyleId>{35CD3641-CC82-49D3-8CCD-38F6F3F50373}</a:tableStyleId>
              </a:tblPr>
              <a:tblGrid>
                <a:gridCol w="1645925">
                  <a:extLst>
                    <a:ext uri="{9D8B030D-6E8A-4147-A177-3AD203B41FA5}">
                      <a16:colId xmlns:a16="http://schemas.microsoft.com/office/drawing/2014/main" val="20000"/>
                    </a:ext>
                  </a:extLst>
                </a:gridCol>
                <a:gridCol w="1645925">
                  <a:extLst>
                    <a:ext uri="{9D8B030D-6E8A-4147-A177-3AD203B41FA5}">
                      <a16:colId xmlns:a16="http://schemas.microsoft.com/office/drawing/2014/main" val="20001"/>
                    </a:ext>
                  </a:extLst>
                </a:gridCol>
                <a:gridCol w="1645925">
                  <a:extLst>
                    <a:ext uri="{9D8B030D-6E8A-4147-A177-3AD203B41FA5}">
                      <a16:colId xmlns:a16="http://schemas.microsoft.com/office/drawing/2014/main" val="20002"/>
                    </a:ext>
                  </a:extLst>
                </a:gridCol>
                <a:gridCol w="1645925">
                  <a:extLst>
                    <a:ext uri="{9D8B030D-6E8A-4147-A177-3AD203B41FA5}">
                      <a16:colId xmlns:a16="http://schemas.microsoft.com/office/drawing/2014/main" val="20003"/>
                    </a:ext>
                  </a:extLst>
                </a:gridCol>
                <a:gridCol w="1645925">
                  <a:extLst>
                    <a:ext uri="{9D8B030D-6E8A-4147-A177-3AD203B41FA5}">
                      <a16:colId xmlns:a16="http://schemas.microsoft.com/office/drawing/2014/main" val="20004"/>
                    </a:ext>
                  </a:extLst>
                </a:gridCol>
              </a:tblGrid>
              <a:tr h="370850">
                <a:tc>
                  <a:txBody>
                    <a:bodyPr/>
                    <a:lstStyle/>
                    <a:p>
                      <a:pPr marL="0" marR="0" lvl="0" indent="0" algn="l" rtl="0">
                        <a:spcBef>
                          <a:spcPts val="0"/>
                        </a:spcBef>
                        <a:spcAft>
                          <a:spcPts val="0"/>
                        </a:spcAft>
                        <a:buNone/>
                      </a:pPr>
                      <a:r>
                        <a:rPr lang="en-US" sz="1800"/>
                        <a:t>S.No.</a:t>
                      </a:r>
                      <a:endParaRPr/>
                    </a:p>
                  </a:txBody>
                  <a:tcPr marL="91450" marR="91450" marT="45725" marB="45725"/>
                </a:tc>
                <a:tc>
                  <a:txBody>
                    <a:bodyPr/>
                    <a:lstStyle/>
                    <a:p>
                      <a:pPr marL="0" marR="0" lvl="0" indent="0" algn="l" rtl="0">
                        <a:spcBef>
                          <a:spcPts val="0"/>
                        </a:spcBef>
                        <a:spcAft>
                          <a:spcPts val="0"/>
                        </a:spcAft>
                        <a:buNone/>
                      </a:pPr>
                      <a:r>
                        <a:rPr lang="en-US" sz="1800"/>
                        <a:t>Title of the Paper</a:t>
                      </a:r>
                      <a:endParaRPr/>
                    </a:p>
                  </a:txBody>
                  <a:tcPr marL="91450" marR="91450" marT="45725" marB="45725"/>
                </a:tc>
                <a:tc>
                  <a:txBody>
                    <a:bodyPr/>
                    <a:lstStyle/>
                    <a:p>
                      <a:pPr marL="0" marR="0" lvl="0" indent="0" algn="l" rtl="0">
                        <a:spcBef>
                          <a:spcPts val="0"/>
                        </a:spcBef>
                        <a:spcAft>
                          <a:spcPts val="0"/>
                        </a:spcAft>
                        <a:buNone/>
                      </a:pPr>
                      <a:r>
                        <a:rPr lang="en-US" sz="1800"/>
                        <a:t>Year</a:t>
                      </a:r>
                      <a:endParaRPr/>
                    </a:p>
                  </a:txBody>
                  <a:tcPr marL="91450" marR="91450" marT="45725" marB="45725"/>
                </a:tc>
                <a:tc>
                  <a:txBody>
                    <a:bodyPr/>
                    <a:lstStyle/>
                    <a:p>
                      <a:pPr marL="0" marR="0" lvl="0" indent="0" algn="l" rtl="0">
                        <a:spcBef>
                          <a:spcPts val="0"/>
                        </a:spcBef>
                        <a:spcAft>
                          <a:spcPts val="0"/>
                        </a:spcAft>
                        <a:buNone/>
                      </a:pPr>
                      <a:r>
                        <a:rPr lang="en-US" sz="1800"/>
                        <a:t>Journal/Conference Name</a:t>
                      </a:r>
                      <a:endParaRPr/>
                    </a:p>
                  </a:txBody>
                  <a:tcPr marL="91450" marR="91450" marT="45725" marB="45725"/>
                </a:tc>
                <a:tc>
                  <a:txBody>
                    <a:bodyPr/>
                    <a:lstStyle/>
                    <a:p>
                      <a:pPr marL="0" marR="0" lvl="0" indent="0" algn="l" rtl="0">
                        <a:spcBef>
                          <a:spcPts val="0"/>
                        </a:spcBef>
                        <a:spcAft>
                          <a:spcPts val="0"/>
                        </a:spcAft>
                        <a:buNone/>
                      </a:pPr>
                      <a:r>
                        <a:rPr lang="en-US" sz="1800"/>
                        <a:t>Inferences</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3</a:t>
                      </a:r>
                      <a:endParaRPr sz="180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sz="1800" dirty="0">
                          <a:latin typeface="Times New Roman"/>
                          <a:ea typeface="Times New Roman"/>
                          <a:cs typeface="Times New Roman"/>
                          <a:sym typeface="Times New Roman"/>
                        </a:rPr>
                        <a:t>Handwritten Urdu Characters and Digits Recognition Using Transfer Learning and Augmentation</a:t>
                      </a:r>
                      <a:endParaRPr sz="1800" dirty="0">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800" dirty="0">
                          <a:latin typeface="Times New Roman"/>
                          <a:ea typeface="Times New Roman"/>
                          <a:cs typeface="Times New Roman"/>
                          <a:sym typeface="Times New Roman"/>
                        </a:rPr>
                        <a:t>With </a:t>
                      </a:r>
                      <a:r>
                        <a:rPr lang="en-US" sz="1800" dirty="0" err="1">
                          <a:latin typeface="Times New Roman"/>
                          <a:ea typeface="Times New Roman"/>
                          <a:cs typeface="Times New Roman"/>
                          <a:sym typeface="Times New Roman"/>
                        </a:rPr>
                        <a:t>AlexNet</a:t>
                      </a:r>
                      <a:endParaRPr sz="1800" dirty="0">
                        <a:latin typeface="Times New Roman"/>
                        <a:ea typeface="Times New Roman"/>
                        <a:cs typeface="Times New Roman"/>
                        <a:sym typeface="Times New Roman"/>
                      </a:endParaRPr>
                    </a:p>
                    <a:p>
                      <a:pPr marL="0" marR="0" lvl="0" indent="0" algn="l" rtl="0">
                        <a:spcBef>
                          <a:spcPts val="0"/>
                        </a:spcBef>
                        <a:spcAft>
                          <a:spcPts val="0"/>
                        </a:spcAft>
                        <a:buNone/>
                      </a:pPr>
                      <a:endParaRPr sz="1800" dirty="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2022</a:t>
                      </a:r>
                      <a:endParaRPr sz="1800">
                        <a:latin typeface="Times New Roman"/>
                        <a:ea typeface="Times New Roman"/>
                        <a:cs typeface="Times New Roman"/>
                        <a:sym typeface="Times New Roman"/>
                      </a:endParaRPr>
                    </a:p>
                  </a:txBody>
                  <a:tcPr marL="91450" marR="91450" marT="45725" marB="45725"/>
                </a:tc>
                <a:tc>
                  <a:txBody>
                    <a:bodyPr/>
                    <a:lstStyle/>
                    <a:p>
                      <a:r>
                        <a:rPr lang="en-US" sz="1400" b="0" i="0" u="none" strike="noStrike" cap="none" dirty="0">
                          <a:solidFill>
                            <a:schemeClr val="dk1"/>
                          </a:solidFill>
                          <a:effectLst/>
                          <a:latin typeface="Calibri"/>
                          <a:ea typeface="Calibri"/>
                          <a:cs typeface="Calibri"/>
                          <a:sym typeface="Arial"/>
                        </a:rPr>
                        <a:t>Department of Software Engineering, Mirpur University of Science and Technology, Mirpur-AJK, Pakistan</a:t>
                      </a:r>
                    </a:p>
                    <a:p>
                      <a:r>
                        <a:rPr lang="en-US" sz="1400" b="0" i="0" u="none" strike="noStrike" cap="none" dirty="0">
                          <a:solidFill>
                            <a:schemeClr val="dk1"/>
                          </a:solidFill>
                          <a:effectLst/>
                          <a:latin typeface="Calibri"/>
                          <a:ea typeface="Calibri"/>
                          <a:cs typeface="Calibri"/>
                          <a:sym typeface="Arial"/>
                        </a:rPr>
                        <a:t>Department of Computer Science, University of South Asia, Lahore, Pakistan</a:t>
                      </a:r>
                    </a:p>
                    <a:p>
                      <a:pPr marL="0" marR="0" lvl="0" indent="0" algn="l" rtl="0">
                        <a:spcBef>
                          <a:spcPts val="0"/>
                        </a:spcBef>
                        <a:spcAft>
                          <a:spcPts val="0"/>
                        </a:spcAft>
                        <a:buNone/>
                      </a:pPr>
                      <a:endParaRPr sz="1800" dirty="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SzPts val="1100"/>
                        <a:buNone/>
                      </a:pPr>
                      <a:r>
                        <a:rPr lang="en-US" sz="1800" dirty="0" err="1">
                          <a:latin typeface="Times New Roman"/>
                          <a:ea typeface="Times New Roman"/>
                          <a:cs typeface="Times New Roman"/>
                          <a:sym typeface="Times New Roman"/>
                        </a:rPr>
                        <a:t>AlexNet</a:t>
                      </a:r>
                      <a:r>
                        <a:rPr lang="en-US" sz="1800" dirty="0">
                          <a:latin typeface="Times New Roman"/>
                          <a:ea typeface="Times New Roman"/>
                          <a:cs typeface="Times New Roman"/>
                          <a:sym typeface="Times New Roman"/>
                        </a:rPr>
                        <a:t> is applied for automatic recognition of the hand-</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written characters and digits using different approaches.</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marR="0" lvl="0" indent="0" algn="l" rtl="0">
                        <a:spcBef>
                          <a:spcPts val="0"/>
                        </a:spcBef>
                        <a:spcAft>
                          <a:spcPts val="0"/>
                        </a:spcAft>
                        <a:buNone/>
                      </a:pPr>
                      <a:endParaRPr sz="1800"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bl>
          </a:graphicData>
        </a:graphic>
      </p:graphicFrame>
      <p:sp>
        <p:nvSpPr>
          <p:cNvPr id="142" name="Google Shape;142;p20"/>
          <p:cNvSpPr txBox="1">
            <a:spLocks noGrp="1"/>
          </p:cNvSpPr>
          <p:nvPr>
            <p:ph type="ftr" idx="11"/>
          </p:nvPr>
        </p:nvSpPr>
        <p:spPr>
          <a:xfrm>
            <a:off x="3124200" y="6400799"/>
            <a:ext cx="39624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Literature Survey</a:t>
            </a:r>
            <a:endParaRPr/>
          </a:p>
        </p:txBody>
      </p:sp>
      <p:graphicFrame>
        <p:nvGraphicFramePr>
          <p:cNvPr id="148" name="Google Shape;148;p21"/>
          <p:cNvGraphicFramePr/>
          <p:nvPr>
            <p:extLst>
              <p:ext uri="{D42A27DB-BD31-4B8C-83A1-F6EECF244321}">
                <p14:modId xmlns:p14="http://schemas.microsoft.com/office/powerpoint/2010/main" val="3486048776"/>
              </p:ext>
            </p:extLst>
          </p:nvPr>
        </p:nvGraphicFramePr>
        <p:xfrm>
          <a:off x="457200" y="1600200"/>
          <a:ext cx="8229625" cy="3474740"/>
        </p:xfrm>
        <a:graphic>
          <a:graphicData uri="http://schemas.openxmlformats.org/drawingml/2006/table">
            <a:tbl>
              <a:tblPr firstRow="1" bandRow="1">
                <a:noFill/>
                <a:tableStyleId>{35CD3641-CC82-49D3-8CCD-38F6F3F50373}</a:tableStyleId>
              </a:tblPr>
              <a:tblGrid>
                <a:gridCol w="1645925">
                  <a:extLst>
                    <a:ext uri="{9D8B030D-6E8A-4147-A177-3AD203B41FA5}">
                      <a16:colId xmlns:a16="http://schemas.microsoft.com/office/drawing/2014/main" val="20000"/>
                    </a:ext>
                  </a:extLst>
                </a:gridCol>
                <a:gridCol w="1645925">
                  <a:extLst>
                    <a:ext uri="{9D8B030D-6E8A-4147-A177-3AD203B41FA5}">
                      <a16:colId xmlns:a16="http://schemas.microsoft.com/office/drawing/2014/main" val="20001"/>
                    </a:ext>
                  </a:extLst>
                </a:gridCol>
                <a:gridCol w="1645925">
                  <a:extLst>
                    <a:ext uri="{9D8B030D-6E8A-4147-A177-3AD203B41FA5}">
                      <a16:colId xmlns:a16="http://schemas.microsoft.com/office/drawing/2014/main" val="20002"/>
                    </a:ext>
                  </a:extLst>
                </a:gridCol>
                <a:gridCol w="1645925">
                  <a:extLst>
                    <a:ext uri="{9D8B030D-6E8A-4147-A177-3AD203B41FA5}">
                      <a16:colId xmlns:a16="http://schemas.microsoft.com/office/drawing/2014/main" val="20003"/>
                    </a:ext>
                  </a:extLst>
                </a:gridCol>
                <a:gridCol w="1645925">
                  <a:extLst>
                    <a:ext uri="{9D8B030D-6E8A-4147-A177-3AD203B41FA5}">
                      <a16:colId xmlns:a16="http://schemas.microsoft.com/office/drawing/2014/main" val="20004"/>
                    </a:ext>
                  </a:extLst>
                </a:gridCol>
              </a:tblGrid>
              <a:tr h="370850">
                <a:tc>
                  <a:txBody>
                    <a:bodyPr/>
                    <a:lstStyle/>
                    <a:p>
                      <a:pPr marL="0" marR="0" lvl="0" indent="0" algn="l" rtl="0">
                        <a:spcBef>
                          <a:spcPts val="0"/>
                        </a:spcBef>
                        <a:spcAft>
                          <a:spcPts val="0"/>
                        </a:spcAft>
                        <a:buNone/>
                      </a:pPr>
                      <a:r>
                        <a:rPr lang="en-US" sz="1800"/>
                        <a:t>S.No.</a:t>
                      </a:r>
                      <a:endParaRPr/>
                    </a:p>
                  </a:txBody>
                  <a:tcPr marL="91450" marR="91450" marT="45725" marB="45725"/>
                </a:tc>
                <a:tc>
                  <a:txBody>
                    <a:bodyPr/>
                    <a:lstStyle/>
                    <a:p>
                      <a:pPr marL="0" marR="0" lvl="0" indent="0" algn="l" rtl="0">
                        <a:spcBef>
                          <a:spcPts val="0"/>
                        </a:spcBef>
                        <a:spcAft>
                          <a:spcPts val="0"/>
                        </a:spcAft>
                        <a:buNone/>
                      </a:pPr>
                      <a:r>
                        <a:rPr lang="en-US" sz="1800"/>
                        <a:t>Title of the Paper</a:t>
                      </a:r>
                      <a:endParaRPr/>
                    </a:p>
                  </a:txBody>
                  <a:tcPr marL="91450" marR="91450" marT="45725" marB="45725"/>
                </a:tc>
                <a:tc>
                  <a:txBody>
                    <a:bodyPr/>
                    <a:lstStyle/>
                    <a:p>
                      <a:pPr marL="0" marR="0" lvl="0" indent="0" algn="l" rtl="0">
                        <a:spcBef>
                          <a:spcPts val="0"/>
                        </a:spcBef>
                        <a:spcAft>
                          <a:spcPts val="0"/>
                        </a:spcAft>
                        <a:buNone/>
                      </a:pPr>
                      <a:r>
                        <a:rPr lang="en-US" sz="1800"/>
                        <a:t>Year</a:t>
                      </a:r>
                      <a:endParaRPr/>
                    </a:p>
                  </a:txBody>
                  <a:tcPr marL="91450" marR="91450" marT="45725" marB="45725"/>
                </a:tc>
                <a:tc>
                  <a:txBody>
                    <a:bodyPr/>
                    <a:lstStyle/>
                    <a:p>
                      <a:pPr marL="0" marR="0" lvl="0" indent="0" algn="l" rtl="0">
                        <a:spcBef>
                          <a:spcPts val="0"/>
                        </a:spcBef>
                        <a:spcAft>
                          <a:spcPts val="0"/>
                        </a:spcAft>
                        <a:buNone/>
                      </a:pPr>
                      <a:r>
                        <a:rPr lang="en-US" sz="1800"/>
                        <a:t>Journal/Conference Name</a:t>
                      </a:r>
                      <a:endParaRPr/>
                    </a:p>
                  </a:txBody>
                  <a:tcPr marL="91450" marR="91450" marT="45725" marB="45725"/>
                </a:tc>
                <a:tc>
                  <a:txBody>
                    <a:bodyPr/>
                    <a:lstStyle/>
                    <a:p>
                      <a:pPr marL="0" marR="0" lvl="0" indent="0" algn="l" rtl="0">
                        <a:spcBef>
                          <a:spcPts val="0"/>
                        </a:spcBef>
                        <a:spcAft>
                          <a:spcPts val="0"/>
                        </a:spcAft>
                        <a:buNone/>
                      </a:pPr>
                      <a:r>
                        <a:rPr lang="en-US" sz="1800"/>
                        <a:t>Inferences</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4</a:t>
                      </a:r>
                      <a:endParaRPr sz="180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SzPts val="1100"/>
                        <a:buNone/>
                      </a:pPr>
                      <a:r>
                        <a:rPr lang="en-US" sz="1800" dirty="0" err="1">
                          <a:latin typeface="Times New Roman"/>
                          <a:ea typeface="Times New Roman"/>
                          <a:cs typeface="Times New Roman"/>
                          <a:sym typeface="Times New Roman"/>
                        </a:rPr>
                        <a:t>DeblurGAN</a:t>
                      </a:r>
                      <a:r>
                        <a:rPr lang="en-US" sz="1800" dirty="0">
                          <a:latin typeface="Times New Roman"/>
                          <a:ea typeface="Times New Roman"/>
                          <a:cs typeface="Times New Roman"/>
                          <a:sym typeface="Times New Roman"/>
                        </a:rPr>
                        <a:t>-CNN: Effective Image Denoising and Recognition for Noisy Handwritten Characters</a:t>
                      </a:r>
                      <a:endParaRPr sz="1800" dirty="0">
                        <a:latin typeface="Times New Roman"/>
                        <a:ea typeface="Times New Roman"/>
                        <a:cs typeface="Times New Roman"/>
                        <a:sym typeface="Times New Roman"/>
                      </a:endParaRPr>
                    </a:p>
                    <a:p>
                      <a:pPr marL="0" marR="0" lvl="0" indent="0" algn="l" rtl="0">
                        <a:spcBef>
                          <a:spcPts val="0"/>
                        </a:spcBef>
                        <a:spcAft>
                          <a:spcPts val="0"/>
                        </a:spcAft>
                        <a:buNone/>
                      </a:pPr>
                      <a:endParaRPr sz="1800" dirty="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2022</a:t>
                      </a:r>
                      <a:endParaRPr sz="18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400" b="0" i="0" u="none" strike="noStrike" cap="none" dirty="0">
                          <a:solidFill>
                            <a:schemeClr val="dk1"/>
                          </a:solidFill>
                          <a:effectLst/>
                          <a:latin typeface="Calibri"/>
                          <a:ea typeface="Calibri"/>
                          <a:cs typeface="Calibri"/>
                          <a:sym typeface="Arial"/>
                        </a:rPr>
                        <a:t>Department of Information Technology, Faculty of Informatics, Multi-Agent Intelligent Simulation Laboratory (MISL), </a:t>
                      </a:r>
                      <a:r>
                        <a:rPr lang="en-US" sz="1400" b="0" i="0" u="none" strike="noStrike" cap="none" dirty="0" err="1">
                          <a:solidFill>
                            <a:schemeClr val="dk1"/>
                          </a:solidFill>
                          <a:effectLst/>
                          <a:latin typeface="Calibri"/>
                          <a:ea typeface="Calibri"/>
                          <a:cs typeface="Calibri"/>
                          <a:sym typeface="Arial"/>
                        </a:rPr>
                        <a:t>Mahasarakham</a:t>
                      </a:r>
                      <a:r>
                        <a:rPr lang="en-US" sz="1400" b="0" i="0" u="none" strike="noStrike" cap="none" dirty="0">
                          <a:solidFill>
                            <a:schemeClr val="dk1"/>
                          </a:solidFill>
                          <a:effectLst/>
                          <a:latin typeface="Calibri"/>
                          <a:ea typeface="Calibri"/>
                          <a:cs typeface="Calibri"/>
                          <a:sym typeface="Arial"/>
                        </a:rPr>
                        <a:t> University, </a:t>
                      </a:r>
                      <a:r>
                        <a:rPr lang="en-US" sz="1400" b="0" i="0" u="none" strike="noStrike" cap="none" dirty="0" err="1">
                          <a:solidFill>
                            <a:schemeClr val="dk1"/>
                          </a:solidFill>
                          <a:effectLst/>
                          <a:latin typeface="Calibri"/>
                          <a:ea typeface="Calibri"/>
                          <a:cs typeface="Calibri"/>
                          <a:sym typeface="Arial"/>
                        </a:rPr>
                        <a:t>Mahasarakham</a:t>
                      </a:r>
                      <a:r>
                        <a:rPr lang="en-US" sz="1400" b="0" i="0" u="none" strike="noStrike" cap="none" dirty="0">
                          <a:solidFill>
                            <a:schemeClr val="dk1"/>
                          </a:solidFill>
                          <a:effectLst/>
                          <a:latin typeface="Calibri"/>
                          <a:ea typeface="Calibri"/>
                          <a:cs typeface="Calibri"/>
                          <a:sym typeface="Arial"/>
                        </a:rPr>
                        <a:t>, Thailand</a:t>
                      </a:r>
                      <a:endParaRPr sz="1800" dirty="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This research mainly focused</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on the denoise and recognition of noisy handwritten character images. </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marR="0" lvl="0" indent="0" algn="l" rtl="0">
                        <a:spcBef>
                          <a:spcPts val="0"/>
                        </a:spcBef>
                        <a:spcAft>
                          <a:spcPts val="0"/>
                        </a:spcAft>
                        <a:buNone/>
                      </a:pPr>
                      <a:endParaRPr sz="1800"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bl>
          </a:graphicData>
        </a:graphic>
      </p:graphicFrame>
      <p:sp>
        <p:nvSpPr>
          <p:cNvPr id="149" name="Google Shape;149;p21"/>
          <p:cNvSpPr txBox="1">
            <a:spLocks noGrp="1"/>
          </p:cNvSpPr>
          <p:nvPr>
            <p:ph type="ftr" idx="11"/>
          </p:nvPr>
        </p:nvSpPr>
        <p:spPr>
          <a:xfrm>
            <a:off x="3124200" y="6400799"/>
            <a:ext cx="39624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Literature Survey</a:t>
            </a:r>
            <a:endParaRPr/>
          </a:p>
        </p:txBody>
      </p:sp>
      <p:graphicFrame>
        <p:nvGraphicFramePr>
          <p:cNvPr id="155" name="Google Shape;155;p22"/>
          <p:cNvGraphicFramePr/>
          <p:nvPr>
            <p:extLst>
              <p:ext uri="{D42A27DB-BD31-4B8C-83A1-F6EECF244321}">
                <p14:modId xmlns:p14="http://schemas.microsoft.com/office/powerpoint/2010/main" val="3327929921"/>
              </p:ext>
            </p:extLst>
          </p:nvPr>
        </p:nvGraphicFramePr>
        <p:xfrm>
          <a:off x="457200" y="1600200"/>
          <a:ext cx="8229625" cy="5120660"/>
        </p:xfrm>
        <a:graphic>
          <a:graphicData uri="http://schemas.openxmlformats.org/drawingml/2006/table">
            <a:tbl>
              <a:tblPr firstRow="1" bandRow="1">
                <a:noFill/>
                <a:tableStyleId>{35CD3641-CC82-49D3-8CCD-38F6F3F50373}</a:tableStyleId>
              </a:tblPr>
              <a:tblGrid>
                <a:gridCol w="1645925">
                  <a:extLst>
                    <a:ext uri="{9D8B030D-6E8A-4147-A177-3AD203B41FA5}">
                      <a16:colId xmlns:a16="http://schemas.microsoft.com/office/drawing/2014/main" val="20000"/>
                    </a:ext>
                  </a:extLst>
                </a:gridCol>
                <a:gridCol w="1645925">
                  <a:extLst>
                    <a:ext uri="{9D8B030D-6E8A-4147-A177-3AD203B41FA5}">
                      <a16:colId xmlns:a16="http://schemas.microsoft.com/office/drawing/2014/main" val="20001"/>
                    </a:ext>
                  </a:extLst>
                </a:gridCol>
                <a:gridCol w="1645925">
                  <a:extLst>
                    <a:ext uri="{9D8B030D-6E8A-4147-A177-3AD203B41FA5}">
                      <a16:colId xmlns:a16="http://schemas.microsoft.com/office/drawing/2014/main" val="20002"/>
                    </a:ext>
                  </a:extLst>
                </a:gridCol>
                <a:gridCol w="1645925">
                  <a:extLst>
                    <a:ext uri="{9D8B030D-6E8A-4147-A177-3AD203B41FA5}">
                      <a16:colId xmlns:a16="http://schemas.microsoft.com/office/drawing/2014/main" val="20003"/>
                    </a:ext>
                  </a:extLst>
                </a:gridCol>
                <a:gridCol w="1645925">
                  <a:extLst>
                    <a:ext uri="{9D8B030D-6E8A-4147-A177-3AD203B41FA5}">
                      <a16:colId xmlns:a16="http://schemas.microsoft.com/office/drawing/2014/main" val="20004"/>
                    </a:ext>
                  </a:extLst>
                </a:gridCol>
              </a:tblGrid>
              <a:tr h="370850">
                <a:tc>
                  <a:txBody>
                    <a:bodyPr/>
                    <a:lstStyle/>
                    <a:p>
                      <a:pPr marL="0" marR="0" lvl="0" indent="0" algn="l" rtl="0">
                        <a:spcBef>
                          <a:spcPts val="0"/>
                        </a:spcBef>
                        <a:spcAft>
                          <a:spcPts val="0"/>
                        </a:spcAft>
                        <a:buNone/>
                      </a:pPr>
                      <a:r>
                        <a:rPr lang="en-US" sz="1800"/>
                        <a:t>S.No.</a:t>
                      </a:r>
                      <a:endParaRPr/>
                    </a:p>
                  </a:txBody>
                  <a:tcPr marL="91450" marR="91450" marT="45725" marB="45725"/>
                </a:tc>
                <a:tc>
                  <a:txBody>
                    <a:bodyPr/>
                    <a:lstStyle/>
                    <a:p>
                      <a:pPr marL="0" marR="0" lvl="0" indent="0" algn="l" rtl="0">
                        <a:spcBef>
                          <a:spcPts val="0"/>
                        </a:spcBef>
                        <a:spcAft>
                          <a:spcPts val="0"/>
                        </a:spcAft>
                        <a:buNone/>
                      </a:pPr>
                      <a:r>
                        <a:rPr lang="en-US" sz="1800"/>
                        <a:t>Title of the Paper</a:t>
                      </a:r>
                      <a:endParaRPr/>
                    </a:p>
                  </a:txBody>
                  <a:tcPr marL="91450" marR="91450" marT="45725" marB="45725"/>
                </a:tc>
                <a:tc>
                  <a:txBody>
                    <a:bodyPr/>
                    <a:lstStyle/>
                    <a:p>
                      <a:pPr marL="0" marR="0" lvl="0" indent="0" algn="l" rtl="0">
                        <a:spcBef>
                          <a:spcPts val="0"/>
                        </a:spcBef>
                        <a:spcAft>
                          <a:spcPts val="0"/>
                        </a:spcAft>
                        <a:buNone/>
                      </a:pPr>
                      <a:r>
                        <a:rPr lang="en-US" sz="1800"/>
                        <a:t>Year</a:t>
                      </a:r>
                      <a:endParaRPr/>
                    </a:p>
                  </a:txBody>
                  <a:tcPr marL="91450" marR="91450" marT="45725" marB="45725"/>
                </a:tc>
                <a:tc>
                  <a:txBody>
                    <a:bodyPr/>
                    <a:lstStyle/>
                    <a:p>
                      <a:pPr marL="0" marR="0" lvl="0" indent="0" algn="l" rtl="0">
                        <a:spcBef>
                          <a:spcPts val="0"/>
                        </a:spcBef>
                        <a:spcAft>
                          <a:spcPts val="0"/>
                        </a:spcAft>
                        <a:buNone/>
                      </a:pPr>
                      <a:r>
                        <a:rPr lang="en-US" sz="1800"/>
                        <a:t>Journal/Conference Name</a:t>
                      </a:r>
                      <a:endParaRPr/>
                    </a:p>
                  </a:txBody>
                  <a:tcPr marL="91450" marR="91450" marT="45725" marB="45725"/>
                </a:tc>
                <a:tc>
                  <a:txBody>
                    <a:bodyPr/>
                    <a:lstStyle/>
                    <a:p>
                      <a:pPr marL="0" marR="0" lvl="0" indent="0" algn="l" rtl="0">
                        <a:spcBef>
                          <a:spcPts val="0"/>
                        </a:spcBef>
                        <a:spcAft>
                          <a:spcPts val="0"/>
                        </a:spcAft>
                        <a:buNone/>
                      </a:pPr>
                      <a:r>
                        <a:rPr lang="en-US" sz="1800"/>
                        <a:t>Inferences</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5</a:t>
                      </a:r>
                      <a:endParaRPr sz="180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Online Handwritten Mathematical Expression Recognition and Applications: A Survey</a:t>
                      </a:r>
                      <a:endParaRPr sz="1800" dirty="0">
                        <a:latin typeface="Times New Roman"/>
                        <a:ea typeface="Times New Roman"/>
                        <a:cs typeface="Times New Roman"/>
                        <a:sym typeface="Times New Roman"/>
                      </a:endParaRPr>
                    </a:p>
                    <a:p>
                      <a:pPr marL="0" marR="0" lvl="0" indent="0" algn="l" rtl="0">
                        <a:spcBef>
                          <a:spcPts val="0"/>
                        </a:spcBef>
                        <a:spcAft>
                          <a:spcPts val="0"/>
                        </a:spcAft>
                        <a:buNone/>
                      </a:pPr>
                      <a:endParaRPr sz="1800" dirty="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2021</a:t>
                      </a:r>
                      <a:endParaRPr sz="18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600" b="0" i="0" u="none" strike="noStrike" cap="none" dirty="0">
                          <a:solidFill>
                            <a:schemeClr val="dk1"/>
                          </a:solidFill>
                          <a:effectLst/>
                          <a:latin typeface="Calibri"/>
                          <a:ea typeface="Calibri"/>
                          <a:cs typeface="Calibri"/>
                          <a:sym typeface="Arial"/>
                        </a:rPr>
                        <a:t>Samsung Research and Development Institute Ukraine, Kyiv, Ukraine, Faculty of Computer Science and Cybernetics, Taras Shevchenko Nation</a:t>
                      </a:r>
                      <a:endParaRPr sz="1600" dirty="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This survey demonstrates that interest in online HME recognition has been growing over the</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past 40 years.</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The research community has now focused on DML techniques.</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marR="0" lvl="0" indent="0" algn="l" rtl="0">
                        <a:spcBef>
                          <a:spcPts val="0"/>
                        </a:spcBef>
                        <a:spcAft>
                          <a:spcPts val="0"/>
                        </a:spcAft>
                        <a:buNone/>
                      </a:pPr>
                      <a:endParaRPr sz="1800"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bl>
          </a:graphicData>
        </a:graphic>
      </p:graphicFrame>
      <p:sp>
        <p:nvSpPr>
          <p:cNvPr id="156" name="Google Shape;156;p22"/>
          <p:cNvSpPr txBox="1">
            <a:spLocks noGrp="1"/>
          </p:cNvSpPr>
          <p:nvPr>
            <p:ph type="ftr" idx="11"/>
          </p:nvPr>
        </p:nvSpPr>
        <p:spPr>
          <a:xfrm>
            <a:off x="3124200" y="6400799"/>
            <a:ext cx="39624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Literature Survey</a:t>
            </a:r>
            <a:endParaRPr/>
          </a:p>
        </p:txBody>
      </p:sp>
      <p:graphicFrame>
        <p:nvGraphicFramePr>
          <p:cNvPr id="162" name="Google Shape;162;p23"/>
          <p:cNvGraphicFramePr/>
          <p:nvPr>
            <p:extLst>
              <p:ext uri="{D42A27DB-BD31-4B8C-83A1-F6EECF244321}">
                <p14:modId xmlns:p14="http://schemas.microsoft.com/office/powerpoint/2010/main" val="3001979894"/>
              </p:ext>
            </p:extLst>
          </p:nvPr>
        </p:nvGraphicFramePr>
        <p:xfrm>
          <a:off x="457200" y="1600200"/>
          <a:ext cx="8229625" cy="4885265"/>
        </p:xfrm>
        <a:graphic>
          <a:graphicData uri="http://schemas.openxmlformats.org/drawingml/2006/table">
            <a:tbl>
              <a:tblPr firstRow="1" bandRow="1">
                <a:noFill/>
                <a:tableStyleId>{35CD3641-CC82-49D3-8CCD-38F6F3F50373}</a:tableStyleId>
              </a:tblPr>
              <a:tblGrid>
                <a:gridCol w="1645925">
                  <a:extLst>
                    <a:ext uri="{9D8B030D-6E8A-4147-A177-3AD203B41FA5}">
                      <a16:colId xmlns:a16="http://schemas.microsoft.com/office/drawing/2014/main" val="20000"/>
                    </a:ext>
                  </a:extLst>
                </a:gridCol>
                <a:gridCol w="1645925">
                  <a:extLst>
                    <a:ext uri="{9D8B030D-6E8A-4147-A177-3AD203B41FA5}">
                      <a16:colId xmlns:a16="http://schemas.microsoft.com/office/drawing/2014/main" val="20001"/>
                    </a:ext>
                  </a:extLst>
                </a:gridCol>
                <a:gridCol w="1645925">
                  <a:extLst>
                    <a:ext uri="{9D8B030D-6E8A-4147-A177-3AD203B41FA5}">
                      <a16:colId xmlns:a16="http://schemas.microsoft.com/office/drawing/2014/main" val="20002"/>
                    </a:ext>
                  </a:extLst>
                </a:gridCol>
                <a:gridCol w="1645925">
                  <a:extLst>
                    <a:ext uri="{9D8B030D-6E8A-4147-A177-3AD203B41FA5}">
                      <a16:colId xmlns:a16="http://schemas.microsoft.com/office/drawing/2014/main" val="20003"/>
                    </a:ext>
                  </a:extLst>
                </a:gridCol>
                <a:gridCol w="1645925">
                  <a:extLst>
                    <a:ext uri="{9D8B030D-6E8A-4147-A177-3AD203B41FA5}">
                      <a16:colId xmlns:a16="http://schemas.microsoft.com/office/drawing/2014/main" val="20004"/>
                    </a:ext>
                  </a:extLst>
                </a:gridCol>
              </a:tblGrid>
              <a:tr h="555425">
                <a:tc>
                  <a:txBody>
                    <a:bodyPr/>
                    <a:lstStyle/>
                    <a:p>
                      <a:pPr marL="0" marR="0" lvl="0" indent="0" algn="l" rtl="0">
                        <a:spcBef>
                          <a:spcPts val="0"/>
                        </a:spcBef>
                        <a:spcAft>
                          <a:spcPts val="0"/>
                        </a:spcAft>
                        <a:buNone/>
                      </a:pPr>
                      <a:r>
                        <a:rPr lang="en-US" sz="1800"/>
                        <a:t>S.No.</a:t>
                      </a:r>
                      <a:endParaRPr/>
                    </a:p>
                  </a:txBody>
                  <a:tcPr marL="91450" marR="91450" marT="45725" marB="45725"/>
                </a:tc>
                <a:tc>
                  <a:txBody>
                    <a:bodyPr/>
                    <a:lstStyle/>
                    <a:p>
                      <a:pPr marL="0" marR="0" lvl="0" indent="0" algn="l" rtl="0">
                        <a:spcBef>
                          <a:spcPts val="0"/>
                        </a:spcBef>
                        <a:spcAft>
                          <a:spcPts val="0"/>
                        </a:spcAft>
                        <a:buNone/>
                      </a:pPr>
                      <a:r>
                        <a:rPr lang="en-US" sz="1800"/>
                        <a:t>Title of the Paper</a:t>
                      </a:r>
                      <a:endParaRPr/>
                    </a:p>
                  </a:txBody>
                  <a:tcPr marL="91450" marR="91450" marT="45725" marB="45725"/>
                </a:tc>
                <a:tc>
                  <a:txBody>
                    <a:bodyPr/>
                    <a:lstStyle/>
                    <a:p>
                      <a:pPr marL="0" marR="0" lvl="0" indent="0" algn="l" rtl="0">
                        <a:spcBef>
                          <a:spcPts val="0"/>
                        </a:spcBef>
                        <a:spcAft>
                          <a:spcPts val="0"/>
                        </a:spcAft>
                        <a:buNone/>
                      </a:pPr>
                      <a:r>
                        <a:rPr lang="en-US" sz="1800"/>
                        <a:t>Year</a:t>
                      </a:r>
                      <a:endParaRPr/>
                    </a:p>
                  </a:txBody>
                  <a:tcPr marL="91450" marR="91450" marT="45725" marB="45725"/>
                </a:tc>
                <a:tc>
                  <a:txBody>
                    <a:bodyPr/>
                    <a:lstStyle/>
                    <a:p>
                      <a:pPr marL="0" marR="0" lvl="0" indent="0" algn="l" rtl="0">
                        <a:spcBef>
                          <a:spcPts val="0"/>
                        </a:spcBef>
                        <a:spcAft>
                          <a:spcPts val="0"/>
                        </a:spcAft>
                        <a:buNone/>
                      </a:pPr>
                      <a:r>
                        <a:rPr lang="en-US" sz="1800"/>
                        <a:t>Journal/Conference Name</a:t>
                      </a:r>
                      <a:endParaRPr/>
                    </a:p>
                  </a:txBody>
                  <a:tcPr marL="91450" marR="91450" marT="45725" marB="45725"/>
                </a:tc>
                <a:tc>
                  <a:txBody>
                    <a:bodyPr/>
                    <a:lstStyle/>
                    <a:p>
                      <a:pPr marL="0" marR="0" lvl="0" indent="0" algn="l" rtl="0">
                        <a:spcBef>
                          <a:spcPts val="0"/>
                        </a:spcBef>
                        <a:spcAft>
                          <a:spcPts val="0"/>
                        </a:spcAft>
                        <a:buNone/>
                      </a:pPr>
                      <a:r>
                        <a:rPr lang="en-US" sz="1800"/>
                        <a:t>Inferences</a:t>
                      </a:r>
                      <a:endParaRPr/>
                    </a:p>
                  </a:txBody>
                  <a:tcPr marL="91450" marR="91450" marT="45725" marB="45725"/>
                </a:tc>
                <a:extLst>
                  <a:ext uri="{0D108BD9-81ED-4DB2-BD59-A6C34878D82A}">
                    <a16:rowId xmlns:a16="http://schemas.microsoft.com/office/drawing/2014/main" val="10000"/>
                  </a:ext>
                </a:extLst>
              </a:tr>
              <a:tr h="4245175">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6</a:t>
                      </a:r>
                      <a:endParaRPr sz="180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Real-Time Pashto Handwritten Character Recognition Using Salient Geometric and Spectral Features</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marR="0" lvl="0" indent="0" algn="l" rtl="0">
                        <a:spcBef>
                          <a:spcPts val="0"/>
                        </a:spcBef>
                        <a:spcAft>
                          <a:spcPts val="0"/>
                        </a:spcAft>
                        <a:buNone/>
                      </a:pPr>
                      <a:endParaRPr sz="1800" dirty="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2021</a:t>
                      </a:r>
                      <a:endParaRPr sz="18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IN" sz="1400" b="0" i="0" u="none" strike="noStrike" cap="none" dirty="0">
                          <a:solidFill>
                            <a:schemeClr val="dk1"/>
                          </a:solidFill>
                          <a:effectLst/>
                          <a:latin typeface="Calibri"/>
                          <a:ea typeface="Calibri"/>
                          <a:cs typeface="Calibri"/>
                          <a:sym typeface="Arial"/>
                        </a:rPr>
                        <a:t>Department of Computer Science, Islamia College University, Peshawar, Khyber Pakhtunkhwa, Pakistan</a:t>
                      </a:r>
                      <a:endParaRPr sz="1800" dirty="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An efficient technique which recognizes the characters in real-time by feature extracting process.</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marR="0" lvl="0" indent="0" algn="l" rtl="0">
                        <a:spcBef>
                          <a:spcPts val="0"/>
                        </a:spcBef>
                        <a:spcAft>
                          <a:spcPts val="0"/>
                        </a:spcAft>
                        <a:buNone/>
                      </a:pPr>
                      <a:endParaRPr sz="1800"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bl>
          </a:graphicData>
        </a:graphic>
      </p:graphicFrame>
      <p:sp>
        <p:nvSpPr>
          <p:cNvPr id="163" name="Google Shape;163;p23"/>
          <p:cNvSpPr txBox="1">
            <a:spLocks noGrp="1"/>
          </p:cNvSpPr>
          <p:nvPr>
            <p:ph type="ftr" idx="11"/>
          </p:nvPr>
        </p:nvSpPr>
        <p:spPr>
          <a:xfrm>
            <a:off x="3124200" y="6400799"/>
            <a:ext cx="39624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Literature Survey</a:t>
            </a:r>
            <a:endParaRPr/>
          </a:p>
        </p:txBody>
      </p:sp>
      <p:graphicFrame>
        <p:nvGraphicFramePr>
          <p:cNvPr id="169" name="Google Shape;169;p24"/>
          <p:cNvGraphicFramePr/>
          <p:nvPr>
            <p:extLst>
              <p:ext uri="{D42A27DB-BD31-4B8C-83A1-F6EECF244321}">
                <p14:modId xmlns:p14="http://schemas.microsoft.com/office/powerpoint/2010/main" val="4197896938"/>
              </p:ext>
            </p:extLst>
          </p:nvPr>
        </p:nvGraphicFramePr>
        <p:xfrm>
          <a:off x="457200" y="1600200"/>
          <a:ext cx="8229625" cy="4885265"/>
        </p:xfrm>
        <a:graphic>
          <a:graphicData uri="http://schemas.openxmlformats.org/drawingml/2006/table">
            <a:tbl>
              <a:tblPr firstRow="1" bandRow="1">
                <a:noFill/>
                <a:tableStyleId>{35CD3641-CC82-49D3-8CCD-38F6F3F50373}</a:tableStyleId>
              </a:tblPr>
              <a:tblGrid>
                <a:gridCol w="1645925">
                  <a:extLst>
                    <a:ext uri="{9D8B030D-6E8A-4147-A177-3AD203B41FA5}">
                      <a16:colId xmlns:a16="http://schemas.microsoft.com/office/drawing/2014/main" val="20000"/>
                    </a:ext>
                  </a:extLst>
                </a:gridCol>
                <a:gridCol w="1645925">
                  <a:extLst>
                    <a:ext uri="{9D8B030D-6E8A-4147-A177-3AD203B41FA5}">
                      <a16:colId xmlns:a16="http://schemas.microsoft.com/office/drawing/2014/main" val="20001"/>
                    </a:ext>
                  </a:extLst>
                </a:gridCol>
                <a:gridCol w="1645925">
                  <a:extLst>
                    <a:ext uri="{9D8B030D-6E8A-4147-A177-3AD203B41FA5}">
                      <a16:colId xmlns:a16="http://schemas.microsoft.com/office/drawing/2014/main" val="20002"/>
                    </a:ext>
                  </a:extLst>
                </a:gridCol>
                <a:gridCol w="1645925">
                  <a:extLst>
                    <a:ext uri="{9D8B030D-6E8A-4147-A177-3AD203B41FA5}">
                      <a16:colId xmlns:a16="http://schemas.microsoft.com/office/drawing/2014/main" val="20003"/>
                    </a:ext>
                  </a:extLst>
                </a:gridCol>
                <a:gridCol w="1645925">
                  <a:extLst>
                    <a:ext uri="{9D8B030D-6E8A-4147-A177-3AD203B41FA5}">
                      <a16:colId xmlns:a16="http://schemas.microsoft.com/office/drawing/2014/main" val="20004"/>
                    </a:ext>
                  </a:extLst>
                </a:gridCol>
              </a:tblGrid>
              <a:tr h="555425">
                <a:tc>
                  <a:txBody>
                    <a:bodyPr/>
                    <a:lstStyle/>
                    <a:p>
                      <a:pPr marL="0" marR="0" lvl="0" indent="0" algn="l" rtl="0">
                        <a:spcBef>
                          <a:spcPts val="0"/>
                        </a:spcBef>
                        <a:spcAft>
                          <a:spcPts val="0"/>
                        </a:spcAft>
                        <a:buNone/>
                      </a:pPr>
                      <a:r>
                        <a:rPr lang="en-US" sz="1800"/>
                        <a:t>S.No.</a:t>
                      </a:r>
                      <a:endParaRPr/>
                    </a:p>
                  </a:txBody>
                  <a:tcPr marL="91450" marR="91450" marT="45725" marB="45725"/>
                </a:tc>
                <a:tc>
                  <a:txBody>
                    <a:bodyPr/>
                    <a:lstStyle/>
                    <a:p>
                      <a:pPr marL="0" marR="0" lvl="0" indent="0" algn="l" rtl="0">
                        <a:spcBef>
                          <a:spcPts val="0"/>
                        </a:spcBef>
                        <a:spcAft>
                          <a:spcPts val="0"/>
                        </a:spcAft>
                        <a:buNone/>
                      </a:pPr>
                      <a:r>
                        <a:rPr lang="en-US" sz="1800"/>
                        <a:t>Title of the Paper</a:t>
                      </a:r>
                      <a:endParaRPr/>
                    </a:p>
                  </a:txBody>
                  <a:tcPr marL="91450" marR="91450" marT="45725" marB="45725"/>
                </a:tc>
                <a:tc>
                  <a:txBody>
                    <a:bodyPr/>
                    <a:lstStyle/>
                    <a:p>
                      <a:pPr marL="0" marR="0" lvl="0" indent="0" algn="l" rtl="0">
                        <a:spcBef>
                          <a:spcPts val="0"/>
                        </a:spcBef>
                        <a:spcAft>
                          <a:spcPts val="0"/>
                        </a:spcAft>
                        <a:buNone/>
                      </a:pPr>
                      <a:r>
                        <a:rPr lang="en-US" sz="1800"/>
                        <a:t>Year</a:t>
                      </a:r>
                      <a:endParaRPr/>
                    </a:p>
                  </a:txBody>
                  <a:tcPr marL="91450" marR="91450" marT="45725" marB="45725"/>
                </a:tc>
                <a:tc>
                  <a:txBody>
                    <a:bodyPr/>
                    <a:lstStyle/>
                    <a:p>
                      <a:pPr marL="0" marR="0" lvl="0" indent="0" algn="l" rtl="0">
                        <a:spcBef>
                          <a:spcPts val="0"/>
                        </a:spcBef>
                        <a:spcAft>
                          <a:spcPts val="0"/>
                        </a:spcAft>
                        <a:buNone/>
                      </a:pPr>
                      <a:r>
                        <a:rPr lang="en-US" sz="1800"/>
                        <a:t>Journal/Conference Name</a:t>
                      </a:r>
                      <a:endParaRPr/>
                    </a:p>
                  </a:txBody>
                  <a:tcPr marL="91450" marR="91450" marT="45725" marB="45725"/>
                </a:tc>
                <a:tc>
                  <a:txBody>
                    <a:bodyPr/>
                    <a:lstStyle/>
                    <a:p>
                      <a:pPr marL="0" marR="0" lvl="0" indent="0" algn="l" rtl="0">
                        <a:spcBef>
                          <a:spcPts val="0"/>
                        </a:spcBef>
                        <a:spcAft>
                          <a:spcPts val="0"/>
                        </a:spcAft>
                        <a:buNone/>
                      </a:pPr>
                      <a:r>
                        <a:rPr lang="en-US" sz="1800"/>
                        <a:t>Inferences</a:t>
                      </a:r>
                      <a:endParaRPr/>
                    </a:p>
                  </a:txBody>
                  <a:tcPr marL="91450" marR="91450" marT="45725" marB="45725"/>
                </a:tc>
                <a:extLst>
                  <a:ext uri="{0D108BD9-81ED-4DB2-BD59-A6C34878D82A}">
                    <a16:rowId xmlns:a16="http://schemas.microsoft.com/office/drawing/2014/main" val="10000"/>
                  </a:ext>
                </a:extLst>
              </a:tr>
              <a:tr h="4245175">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7</a:t>
                      </a:r>
                      <a:endParaRPr sz="180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A Residual Attention Offline Handwritten Chinese Text Recognition Based on Fully Convolutional</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Neural Networks</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marR="0" lvl="0" indent="0" algn="l" rtl="0">
                        <a:spcBef>
                          <a:spcPts val="0"/>
                        </a:spcBef>
                        <a:spcAft>
                          <a:spcPts val="0"/>
                        </a:spcAft>
                        <a:buNone/>
                      </a:pPr>
                      <a:endParaRPr sz="1800" dirty="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2021</a:t>
                      </a:r>
                      <a:endParaRPr sz="1800">
                        <a:latin typeface="Times New Roman"/>
                        <a:ea typeface="Times New Roman"/>
                        <a:cs typeface="Times New Roman"/>
                        <a:sym typeface="Times New Roman"/>
                      </a:endParaRPr>
                    </a:p>
                  </a:txBody>
                  <a:tcPr marL="91450" marR="91450" marT="45725" marB="45725"/>
                </a:tc>
                <a:tc>
                  <a:txBody>
                    <a:bodyPr/>
                    <a:lstStyle/>
                    <a:p>
                      <a:r>
                        <a:rPr lang="en-IN" sz="1400" b="0" i="0" u="none" strike="noStrike" cap="none" dirty="0">
                          <a:solidFill>
                            <a:schemeClr val="dk1"/>
                          </a:solidFill>
                          <a:effectLst/>
                          <a:latin typeface="Calibri"/>
                          <a:ea typeface="Calibri"/>
                          <a:cs typeface="Calibri"/>
                          <a:sym typeface="Arial"/>
                        </a:rPr>
                        <a:t>College of Computer Science and Technology, Zhejiang University, Hangzhou, China</a:t>
                      </a:r>
                    </a:p>
                    <a:p>
                      <a:r>
                        <a:rPr lang="en-IN" sz="1400" b="0" i="0" u="none" strike="noStrike" cap="none" dirty="0">
                          <a:solidFill>
                            <a:schemeClr val="dk1"/>
                          </a:solidFill>
                          <a:effectLst/>
                          <a:latin typeface="Calibri"/>
                          <a:ea typeface="Calibri"/>
                          <a:cs typeface="Calibri"/>
                          <a:sym typeface="Arial"/>
                        </a:rPr>
                        <a:t>School of Information Engineering, Nanjing </a:t>
                      </a:r>
                      <a:r>
                        <a:rPr lang="en-IN" sz="1400" b="0" i="0" u="none" strike="noStrike" cap="none" dirty="0" err="1">
                          <a:solidFill>
                            <a:schemeClr val="dk1"/>
                          </a:solidFill>
                          <a:effectLst/>
                          <a:latin typeface="Calibri"/>
                          <a:ea typeface="Calibri"/>
                          <a:cs typeface="Calibri"/>
                          <a:sym typeface="Arial"/>
                        </a:rPr>
                        <a:t>Xiaozhuang</a:t>
                      </a:r>
                      <a:r>
                        <a:rPr lang="en-IN" sz="1400" b="0" i="0" u="none" strike="noStrike" cap="none" dirty="0">
                          <a:solidFill>
                            <a:schemeClr val="dk1"/>
                          </a:solidFill>
                          <a:effectLst/>
                          <a:latin typeface="Calibri"/>
                          <a:ea typeface="Calibri"/>
                          <a:cs typeface="Calibri"/>
                          <a:sym typeface="Arial"/>
                        </a:rPr>
                        <a:t> University, Nanjing, China</a:t>
                      </a:r>
                    </a:p>
                    <a:p>
                      <a:r>
                        <a:rPr lang="en-IN" sz="1400" b="0" i="0" u="none" strike="noStrike" cap="none" dirty="0">
                          <a:solidFill>
                            <a:schemeClr val="dk1"/>
                          </a:solidFill>
                          <a:effectLst/>
                          <a:latin typeface="Calibri"/>
                          <a:ea typeface="Calibri"/>
                          <a:cs typeface="Calibri"/>
                          <a:sym typeface="Arial"/>
                        </a:rPr>
                        <a:t>Institute of Artificial Intelligence, De Montfort University, Leicester, U.K.</a:t>
                      </a:r>
                    </a:p>
                    <a:p>
                      <a:pPr marL="0" marR="0" lvl="0" indent="0" algn="l" rtl="0">
                        <a:spcBef>
                          <a:spcPts val="0"/>
                        </a:spcBef>
                        <a:spcAft>
                          <a:spcPts val="0"/>
                        </a:spcAft>
                        <a:buNone/>
                      </a:pPr>
                      <a:endParaRPr sz="1800" dirty="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A residual attention offline handwritten Chinese text recognition</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based on fully convolutional neural networks.</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marR="0" lvl="0" indent="0" algn="l" rtl="0">
                        <a:spcBef>
                          <a:spcPts val="0"/>
                        </a:spcBef>
                        <a:spcAft>
                          <a:spcPts val="0"/>
                        </a:spcAft>
                        <a:buNone/>
                      </a:pPr>
                      <a:endParaRPr sz="1800"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bl>
          </a:graphicData>
        </a:graphic>
      </p:graphicFrame>
      <p:sp>
        <p:nvSpPr>
          <p:cNvPr id="170" name="Google Shape;170;p24"/>
          <p:cNvSpPr txBox="1">
            <a:spLocks noGrp="1"/>
          </p:cNvSpPr>
          <p:nvPr>
            <p:ph type="ftr" idx="11"/>
          </p:nvPr>
        </p:nvSpPr>
        <p:spPr>
          <a:xfrm>
            <a:off x="3124200" y="6400799"/>
            <a:ext cx="39624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Literature Survey</a:t>
            </a:r>
            <a:endParaRPr/>
          </a:p>
        </p:txBody>
      </p:sp>
      <p:graphicFrame>
        <p:nvGraphicFramePr>
          <p:cNvPr id="176" name="Google Shape;176;p25"/>
          <p:cNvGraphicFramePr/>
          <p:nvPr>
            <p:extLst>
              <p:ext uri="{D42A27DB-BD31-4B8C-83A1-F6EECF244321}">
                <p14:modId xmlns:p14="http://schemas.microsoft.com/office/powerpoint/2010/main" val="4034604285"/>
              </p:ext>
            </p:extLst>
          </p:nvPr>
        </p:nvGraphicFramePr>
        <p:xfrm>
          <a:off x="457200" y="1600200"/>
          <a:ext cx="8229625" cy="5669300"/>
        </p:xfrm>
        <a:graphic>
          <a:graphicData uri="http://schemas.openxmlformats.org/drawingml/2006/table">
            <a:tbl>
              <a:tblPr firstRow="1" bandRow="1">
                <a:noFill/>
                <a:tableStyleId>{35CD3641-CC82-49D3-8CCD-38F6F3F50373}</a:tableStyleId>
              </a:tblPr>
              <a:tblGrid>
                <a:gridCol w="1645925">
                  <a:extLst>
                    <a:ext uri="{9D8B030D-6E8A-4147-A177-3AD203B41FA5}">
                      <a16:colId xmlns:a16="http://schemas.microsoft.com/office/drawing/2014/main" val="20000"/>
                    </a:ext>
                  </a:extLst>
                </a:gridCol>
                <a:gridCol w="1645925">
                  <a:extLst>
                    <a:ext uri="{9D8B030D-6E8A-4147-A177-3AD203B41FA5}">
                      <a16:colId xmlns:a16="http://schemas.microsoft.com/office/drawing/2014/main" val="20001"/>
                    </a:ext>
                  </a:extLst>
                </a:gridCol>
                <a:gridCol w="1645925">
                  <a:extLst>
                    <a:ext uri="{9D8B030D-6E8A-4147-A177-3AD203B41FA5}">
                      <a16:colId xmlns:a16="http://schemas.microsoft.com/office/drawing/2014/main" val="20002"/>
                    </a:ext>
                  </a:extLst>
                </a:gridCol>
                <a:gridCol w="1645925">
                  <a:extLst>
                    <a:ext uri="{9D8B030D-6E8A-4147-A177-3AD203B41FA5}">
                      <a16:colId xmlns:a16="http://schemas.microsoft.com/office/drawing/2014/main" val="20003"/>
                    </a:ext>
                  </a:extLst>
                </a:gridCol>
                <a:gridCol w="1645925">
                  <a:extLst>
                    <a:ext uri="{9D8B030D-6E8A-4147-A177-3AD203B41FA5}">
                      <a16:colId xmlns:a16="http://schemas.microsoft.com/office/drawing/2014/main" val="20004"/>
                    </a:ext>
                  </a:extLst>
                </a:gridCol>
              </a:tblGrid>
              <a:tr h="567675">
                <a:tc>
                  <a:txBody>
                    <a:bodyPr/>
                    <a:lstStyle/>
                    <a:p>
                      <a:pPr marL="0" marR="0" lvl="0" indent="0" algn="l" rtl="0">
                        <a:spcBef>
                          <a:spcPts val="0"/>
                        </a:spcBef>
                        <a:spcAft>
                          <a:spcPts val="0"/>
                        </a:spcAft>
                        <a:buNone/>
                      </a:pPr>
                      <a:r>
                        <a:rPr lang="en-US" sz="1800"/>
                        <a:t>S.No.</a:t>
                      </a:r>
                      <a:endParaRPr/>
                    </a:p>
                  </a:txBody>
                  <a:tcPr marL="91450" marR="91450" marT="45725" marB="45725"/>
                </a:tc>
                <a:tc>
                  <a:txBody>
                    <a:bodyPr/>
                    <a:lstStyle/>
                    <a:p>
                      <a:pPr marL="0" marR="0" lvl="0" indent="0" algn="l" rtl="0">
                        <a:spcBef>
                          <a:spcPts val="0"/>
                        </a:spcBef>
                        <a:spcAft>
                          <a:spcPts val="0"/>
                        </a:spcAft>
                        <a:buNone/>
                      </a:pPr>
                      <a:r>
                        <a:rPr lang="en-US" sz="1800"/>
                        <a:t>Title of the Paper</a:t>
                      </a:r>
                      <a:endParaRPr/>
                    </a:p>
                  </a:txBody>
                  <a:tcPr marL="91450" marR="91450" marT="45725" marB="45725"/>
                </a:tc>
                <a:tc>
                  <a:txBody>
                    <a:bodyPr/>
                    <a:lstStyle/>
                    <a:p>
                      <a:pPr marL="0" marR="0" lvl="0" indent="0" algn="l" rtl="0">
                        <a:spcBef>
                          <a:spcPts val="0"/>
                        </a:spcBef>
                        <a:spcAft>
                          <a:spcPts val="0"/>
                        </a:spcAft>
                        <a:buNone/>
                      </a:pPr>
                      <a:r>
                        <a:rPr lang="en-US" sz="1800"/>
                        <a:t>Year</a:t>
                      </a:r>
                      <a:endParaRPr/>
                    </a:p>
                  </a:txBody>
                  <a:tcPr marL="91450" marR="91450" marT="45725" marB="45725"/>
                </a:tc>
                <a:tc>
                  <a:txBody>
                    <a:bodyPr/>
                    <a:lstStyle/>
                    <a:p>
                      <a:pPr marL="0" marR="0" lvl="0" indent="0" algn="l" rtl="0">
                        <a:spcBef>
                          <a:spcPts val="0"/>
                        </a:spcBef>
                        <a:spcAft>
                          <a:spcPts val="0"/>
                        </a:spcAft>
                        <a:buNone/>
                      </a:pPr>
                      <a:r>
                        <a:rPr lang="en-US" sz="1800"/>
                        <a:t>Journal/Conference Name</a:t>
                      </a:r>
                      <a:endParaRPr/>
                    </a:p>
                  </a:txBody>
                  <a:tcPr marL="91450" marR="91450" marT="45725" marB="45725"/>
                </a:tc>
                <a:tc>
                  <a:txBody>
                    <a:bodyPr/>
                    <a:lstStyle/>
                    <a:p>
                      <a:pPr marL="0" marR="0" lvl="0" indent="0" algn="l" rtl="0">
                        <a:spcBef>
                          <a:spcPts val="0"/>
                        </a:spcBef>
                        <a:spcAft>
                          <a:spcPts val="0"/>
                        </a:spcAft>
                        <a:buNone/>
                      </a:pPr>
                      <a:r>
                        <a:rPr lang="en-US" sz="1800"/>
                        <a:t>Inferences</a:t>
                      </a:r>
                      <a:endParaRPr/>
                    </a:p>
                  </a:txBody>
                  <a:tcPr marL="91450" marR="91450" marT="45725" marB="45725"/>
                </a:tc>
                <a:extLst>
                  <a:ext uri="{0D108BD9-81ED-4DB2-BD59-A6C34878D82A}">
                    <a16:rowId xmlns:a16="http://schemas.microsoft.com/office/drawing/2014/main" val="10000"/>
                  </a:ext>
                </a:extLst>
              </a:tr>
              <a:tr h="4460400">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8</a:t>
                      </a:r>
                      <a:endParaRPr sz="180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Stroke Extraction for Offline Handwritten Mathematical Expression Recognition</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marR="0" lvl="0" indent="0" algn="l" rtl="0">
                        <a:spcBef>
                          <a:spcPts val="0"/>
                        </a:spcBef>
                        <a:spcAft>
                          <a:spcPts val="0"/>
                        </a:spcAft>
                        <a:buNone/>
                      </a:pPr>
                      <a:endParaRPr sz="1800" dirty="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2020</a:t>
                      </a:r>
                      <a:endParaRPr sz="18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800" b="0" i="0" u="none" strike="noStrike" cap="none" dirty="0">
                          <a:solidFill>
                            <a:schemeClr val="dk1"/>
                          </a:solidFill>
                          <a:effectLst/>
                          <a:latin typeface="Calibri"/>
                          <a:ea typeface="Calibri"/>
                          <a:cs typeface="Calibri"/>
                          <a:sym typeface="Arial"/>
                        </a:rPr>
                        <a:t>School of Mathematics, Sun Yat-Sen University, Guangzhou, China</a:t>
                      </a:r>
                      <a:endParaRPr sz="1800" dirty="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A stroke extraction algorithm is proposed for handwritten mathematical expression,</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so that an offline recognizer can be built upon an online one.</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marR="0" lvl="0" indent="0" algn="l" rtl="0">
                        <a:spcBef>
                          <a:spcPts val="0"/>
                        </a:spcBef>
                        <a:spcAft>
                          <a:spcPts val="0"/>
                        </a:spcAft>
                        <a:buNone/>
                      </a:pPr>
                      <a:endParaRPr sz="1800"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bl>
          </a:graphicData>
        </a:graphic>
      </p:graphicFrame>
      <p:sp>
        <p:nvSpPr>
          <p:cNvPr id="177" name="Google Shape;177;p25"/>
          <p:cNvSpPr txBox="1">
            <a:spLocks noGrp="1"/>
          </p:cNvSpPr>
          <p:nvPr>
            <p:ph type="ftr" idx="11"/>
          </p:nvPr>
        </p:nvSpPr>
        <p:spPr>
          <a:xfrm>
            <a:off x="3124200" y="6400799"/>
            <a:ext cx="39624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Literature Survey</a:t>
            </a:r>
            <a:endParaRPr/>
          </a:p>
        </p:txBody>
      </p:sp>
      <p:graphicFrame>
        <p:nvGraphicFramePr>
          <p:cNvPr id="183" name="Google Shape;183;p26"/>
          <p:cNvGraphicFramePr/>
          <p:nvPr>
            <p:extLst>
              <p:ext uri="{D42A27DB-BD31-4B8C-83A1-F6EECF244321}">
                <p14:modId xmlns:p14="http://schemas.microsoft.com/office/powerpoint/2010/main" val="3089753964"/>
              </p:ext>
            </p:extLst>
          </p:nvPr>
        </p:nvGraphicFramePr>
        <p:xfrm>
          <a:off x="457200" y="1600200"/>
          <a:ext cx="8229625" cy="6217940"/>
        </p:xfrm>
        <a:graphic>
          <a:graphicData uri="http://schemas.openxmlformats.org/drawingml/2006/table">
            <a:tbl>
              <a:tblPr firstRow="1" bandRow="1">
                <a:noFill/>
                <a:tableStyleId>{35CD3641-CC82-49D3-8CCD-38F6F3F50373}</a:tableStyleId>
              </a:tblPr>
              <a:tblGrid>
                <a:gridCol w="1645925">
                  <a:extLst>
                    <a:ext uri="{9D8B030D-6E8A-4147-A177-3AD203B41FA5}">
                      <a16:colId xmlns:a16="http://schemas.microsoft.com/office/drawing/2014/main" val="20000"/>
                    </a:ext>
                  </a:extLst>
                </a:gridCol>
                <a:gridCol w="1645925">
                  <a:extLst>
                    <a:ext uri="{9D8B030D-6E8A-4147-A177-3AD203B41FA5}">
                      <a16:colId xmlns:a16="http://schemas.microsoft.com/office/drawing/2014/main" val="20001"/>
                    </a:ext>
                  </a:extLst>
                </a:gridCol>
                <a:gridCol w="1645925">
                  <a:extLst>
                    <a:ext uri="{9D8B030D-6E8A-4147-A177-3AD203B41FA5}">
                      <a16:colId xmlns:a16="http://schemas.microsoft.com/office/drawing/2014/main" val="20002"/>
                    </a:ext>
                  </a:extLst>
                </a:gridCol>
                <a:gridCol w="1645925">
                  <a:extLst>
                    <a:ext uri="{9D8B030D-6E8A-4147-A177-3AD203B41FA5}">
                      <a16:colId xmlns:a16="http://schemas.microsoft.com/office/drawing/2014/main" val="20003"/>
                    </a:ext>
                  </a:extLst>
                </a:gridCol>
                <a:gridCol w="1645925">
                  <a:extLst>
                    <a:ext uri="{9D8B030D-6E8A-4147-A177-3AD203B41FA5}">
                      <a16:colId xmlns:a16="http://schemas.microsoft.com/office/drawing/2014/main" val="20004"/>
                    </a:ext>
                  </a:extLst>
                </a:gridCol>
              </a:tblGrid>
              <a:tr h="567675">
                <a:tc>
                  <a:txBody>
                    <a:bodyPr/>
                    <a:lstStyle/>
                    <a:p>
                      <a:pPr marL="0" marR="0" lvl="0" indent="0" algn="l" rtl="0">
                        <a:spcBef>
                          <a:spcPts val="0"/>
                        </a:spcBef>
                        <a:spcAft>
                          <a:spcPts val="0"/>
                        </a:spcAft>
                        <a:buNone/>
                      </a:pPr>
                      <a:r>
                        <a:rPr lang="en-US" sz="1800"/>
                        <a:t>S.No.</a:t>
                      </a:r>
                      <a:endParaRPr/>
                    </a:p>
                  </a:txBody>
                  <a:tcPr marL="91450" marR="91450" marT="45725" marB="45725"/>
                </a:tc>
                <a:tc>
                  <a:txBody>
                    <a:bodyPr/>
                    <a:lstStyle/>
                    <a:p>
                      <a:pPr marL="0" marR="0" lvl="0" indent="0" algn="l" rtl="0">
                        <a:spcBef>
                          <a:spcPts val="0"/>
                        </a:spcBef>
                        <a:spcAft>
                          <a:spcPts val="0"/>
                        </a:spcAft>
                        <a:buNone/>
                      </a:pPr>
                      <a:r>
                        <a:rPr lang="en-US" sz="1800"/>
                        <a:t>Title of the Paper</a:t>
                      </a:r>
                      <a:endParaRPr/>
                    </a:p>
                  </a:txBody>
                  <a:tcPr marL="91450" marR="91450" marT="45725" marB="45725"/>
                </a:tc>
                <a:tc>
                  <a:txBody>
                    <a:bodyPr/>
                    <a:lstStyle/>
                    <a:p>
                      <a:pPr marL="0" marR="0" lvl="0" indent="0" algn="l" rtl="0">
                        <a:spcBef>
                          <a:spcPts val="0"/>
                        </a:spcBef>
                        <a:spcAft>
                          <a:spcPts val="0"/>
                        </a:spcAft>
                        <a:buNone/>
                      </a:pPr>
                      <a:r>
                        <a:rPr lang="en-US" sz="1800"/>
                        <a:t>Year</a:t>
                      </a:r>
                      <a:endParaRPr/>
                    </a:p>
                  </a:txBody>
                  <a:tcPr marL="91450" marR="91450" marT="45725" marB="45725"/>
                </a:tc>
                <a:tc>
                  <a:txBody>
                    <a:bodyPr/>
                    <a:lstStyle/>
                    <a:p>
                      <a:pPr marL="0" marR="0" lvl="0" indent="0" algn="l" rtl="0">
                        <a:spcBef>
                          <a:spcPts val="0"/>
                        </a:spcBef>
                        <a:spcAft>
                          <a:spcPts val="0"/>
                        </a:spcAft>
                        <a:buNone/>
                      </a:pPr>
                      <a:r>
                        <a:rPr lang="en-US" sz="1800"/>
                        <a:t>Journal/Conference Name</a:t>
                      </a:r>
                      <a:endParaRPr/>
                    </a:p>
                  </a:txBody>
                  <a:tcPr marL="91450" marR="91450" marT="45725" marB="45725"/>
                </a:tc>
                <a:tc>
                  <a:txBody>
                    <a:bodyPr/>
                    <a:lstStyle/>
                    <a:p>
                      <a:pPr marL="0" marR="0" lvl="0" indent="0" algn="l" rtl="0">
                        <a:spcBef>
                          <a:spcPts val="0"/>
                        </a:spcBef>
                        <a:spcAft>
                          <a:spcPts val="0"/>
                        </a:spcAft>
                        <a:buNone/>
                      </a:pPr>
                      <a:r>
                        <a:rPr lang="en-US" sz="1800"/>
                        <a:t>Inferences</a:t>
                      </a:r>
                      <a:endParaRPr/>
                    </a:p>
                  </a:txBody>
                  <a:tcPr marL="91450" marR="91450" marT="45725" marB="45725"/>
                </a:tc>
                <a:extLst>
                  <a:ext uri="{0D108BD9-81ED-4DB2-BD59-A6C34878D82A}">
                    <a16:rowId xmlns:a16="http://schemas.microsoft.com/office/drawing/2014/main" val="10000"/>
                  </a:ext>
                </a:extLst>
              </a:tr>
              <a:tr h="4460400">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9</a:t>
                      </a:r>
                      <a:endParaRPr sz="180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HDSR-Flor: A Robust End-to-End System to Solve the Handwritten Digit String Recognition</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Problem in Real Complex Scenarios</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marR="0" lvl="0" indent="0" algn="l" rtl="0">
                        <a:spcBef>
                          <a:spcPts val="0"/>
                        </a:spcBef>
                        <a:spcAft>
                          <a:spcPts val="0"/>
                        </a:spcAft>
                        <a:buNone/>
                      </a:pPr>
                      <a:endParaRPr sz="1800" dirty="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2020</a:t>
                      </a:r>
                      <a:endParaRPr sz="180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600" b="0" i="0" u="none" strike="noStrike" cap="none" dirty="0">
                          <a:solidFill>
                            <a:schemeClr val="dk1"/>
                          </a:solidFill>
                          <a:effectLst/>
                          <a:latin typeface="Calibri"/>
                          <a:ea typeface="Calibri"/>
                          <a:cs typeface="Calibri"/>
                          <a:sym typeface="Arial"/>
                        </a:rPr>
                        <a:t>Artificial intelligence from the Federal University of Pernambuco, Brazil</a:t>
                      </a:r>
                    </a:p>
                    <a:p>
                      <a:pPr marL="0" marR="0" lvl="0" indent="0" algn="l" rtl="0">
                        <a:spcBef>
                          <a:spcPts val="0"/>
                        </a:spcBef>
                        <a:spcAft>
                          <a:spcPts val="0"/>
                        </a:spcAft>
                        <a:buNone/>
                      </a:pPr>
                      <a:r>
                        <a:rPr lang="en-US" sz="1600" b="0" i="0" u="none" strike="noStrike" cap="none" dirty="0">
                          <a:solidFill>
                            <a:schemeClr val="dk1"/>
                          </a:solidFill>
                          <a:effectLst/>
                          <a:latin typeface="Calibri"/>
                          <a:ea typeface="Calibri"/>
                          <a:cs typeface="Calibri"/>
                          <a:sym typeface="Arial"/>
                        </a:rPr>
                        <a:t>Pattern Recognition and Human Language Research Center (PRHLT)</a:t>
                      </a:r>
                      <a:endParaRPr sz="1600" dirty="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A new Gated-CNN-BGRU architecture, based on Handwritten Text</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Recognition, for Handwritten Digit String Recognition (HDSR) systems.</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marR="0" lvl="0" indent="0" algn="l" rtl="0">
                        <a:spcBef>
                          <a:spcPts val="0"/>
                        </a:spcBef>
                        <a:spcAft>
                          <a:spcPts val="0"/>
                        </a:spcAft>
                        <a:buNone/>
                      </a:pPr>
                      <a:endParaRPr sz="1800"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bl>
          </a:graphicData>
        </a:graphic>
      </p:graphicFrame>
      <p:sp>
        <p:nvSpPr>
          <p:cNvPr id="184" name="Google Shape;184;p26"/>
          <p:cNvSpPr txBox="1">
            <a:spLocks noGrp="1"/>
          </p:cNvSpPr>
          <p:nvPr>
            <p:ph type="ftr" idx="11"/>
          </p:nvPr>
        </p:nvSpPr>
        <p:spPr>
          <a:xfrm>
            <a:off x="3124200" y="6400799"/>
            <a:ext cx="39624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Literature Survey</a:t>
            </a:r>
            <a:endParaRPr/>
          </a:p>
        </p:txBody>
      </p:sp>
      <p:graphicFrame>
        <p:nvGraphicFramePr>
          <p:cNvPr id="190" name="Google Shape;190;p27"/>
          <p:cNvGraphicFramePr/>
          <p:nvPr>
            <p:extLst>
              <p:ext uri="{D42A27DB-BD31-4B8C-83A1-F6EECF244321}">
                <p14:modId xmlns:p14="http://schemas.microsoft.com/office/powerpoint/2010/main" val="89887147"/>
              </p:ext>
            </p:extLst>
          </p:nvPr>
        </p:nvGraphicFramePr>
        <p:xfrm>
          <a:off x="457200" y="1177950"/>
          <a:ext cx="8526780" cy="6492260"/>
        </p:xfrm>
        <a:graphic>
          <a:graphicData uri="http://schemas.openxmlformats.org/drawingml/2006/table">
            <a:tbl>
              <a:tblPr firstRow="1" bandRow="1">
                <a:noFill/>
                <a:tableStyleId>{35CD3641-CC82-49D3-8CCD-38F6F3F50373}</a:tableStyleId>
              </a:tblPr>
              <a:tblGrid>
                <a:gridCol w="1705356">
                  <a:extLst>
                    <a:ext uri="{9D8B030D-6E8A-4147-A177-3AD203B41FA5}">
                      <a16:colId xmlns:a16="http://schemas.microsoft.com/office/drawing/2014/main" val="20000"/>
                    </a:ext>
                  </a:extLst>
                </a:gridCol>
                <a:gridCol w="1705356">
                  <a:extLst>
                    <a:ext uri="{9D8B030D-6E8A-4147-A177-3AD203B41FA5}">
                      <a16:colId xmlns:a16="http://schemas.microsoft.com/office/drawing/2014/main" val="20001"/>
                    </a:ext>
                  </a:extLst>
                </a:gridCol>
                <a:gridCol w="1705356">
                  <a:extLst>
                    <a:ext uri="{9D8B030D-6E8A-4147-A177-3AD203B41FA5}">
                      <a16:colId xmlns:a16="http://schemas.microsoft.com/office/drawing/2014/main" val="20002"/>
                    </a:ext>
                  </a:extLst>
                </a:gridCol>
                <a:gridCol w="1705356">
                  <a:extLst>
                    <a:ext uri="{9D8B030D-6E8A-4147-A177-3AD203B41FA5}">
                      <a16:colId xmlns:a16="http://schemas.microsoft.com/office/drawing/2014/main" val="20003"/>
                    </a:ext>
                  </a:extLst>
                </a:gridCol>
                <a:gridCol w="1705356">
                  <a:extLst>
                    <a:ext uri="{9D8B030D-6E8A-4147-A177-3AD203B41FA5}">
                      <a16:colId xmlns:a16="http://schemas.microsoft.com/office/drawing/2014/main" val="20004"/>
                    </a:ext>
                  </a:extLst>
                </a:gridCol>
              </a:tblGrid>
              <a:tr h="559583">
                <a:tc>
                  <a:txBody>
                    <a:bodyPr/>
                    <a:lstStyle/>
                    <a:p>
                      <a:pPr marL="0" marR="0" lvl="0" indent="0" algn="l" rtl="0">
                        <a:spcBef>
                          <a:spcPts val="0"/>
                        </a:spcBef>
                        <a:spcAft>
                          <a:spcPts val="0"/>
                        </a:spcAft>
                        <a:buNone/>
                      </a:pPr>
                      <a:r>
                        <a:rPr lang="en-US" sz="1800"/>
                        <a:t>S.No.</a:t>
                      </a:r>
                      <a:endParaRPr/>
                    </a:p>
                  </a:txBody>
                  <a:tcPr marL="91450" marR="91450" marT="45725" marB="45725"/>
                </a:tc>
                <a:tc>
                  <a:txBody>
                    <a:bodyPr/>
                    <a:lstStyle/>
                    <a:p>
                      <a:pPr marL="0" marR="0" lvl="0" indent="0" algn="l" rtl="0">
                        <a:spcBef>
                          <a:spcPts val="0"/>
                        </a:spcBef>
                        <a:spcAft>
                          <a:spcPts val="0"/>
                        </a:spcAft>
                        <a:buNone/>
                      </a:pPr>
                      <a:r>
                        <a:rPr lang="en-US" sz="1800"/>
                        <a:t>Title of the Paper</a:t>
                      </a:r>
                      <a:endParaRPr/>
                    </a:p>
                  </a:txBody>
                  <a:tcPr marL="91450" marR="91450" marT="45725" marB="45725"/>
                </a:tc>
                <a:tc>
                  <a:txBody>
                    <a:bodyPr/>
                    <a:lstStyle/>
                    <a:p>
                      <a:pPr marL="0" marR="0" lvl="0" indent="0" algn="l" rtl="0">
                        <a:spcBef>
                          <a:spcPts val="0"/>
                        </a:spcBef>
                        <a:spcAft>
                          <a:spcPts val="0"/>
                        </a:spcAft>
                        <a:buNone/>
                      </a:pPr>
                      <a:r>
                        <a:rPr lang="en-US" sz="1800"/>
                        <a:t>Year</a:t>
                      </a:r>
                      <a:endParaRPr/>
                    </a:p>
                  </a:txBody>
                  <a:tcPr marL="91450" marR="91450" marT="45725" marB="45725"/>
                </a:tc>
                <a:tc>
                  <a:txBody>
                    <a:bodyPr/>
                    <a:lstStyle/>
                    <a:p>
                      <a:pPr marL="0" marR="0" lvl="0" indent="0" algn="l" rtl="0">
                        <a:spcBef>
                          <a:spcPts val="0"/>
                        </a:spcBef>
                        <a:spcAft>
                          <a:spcPts val="0"/>
                        </a:spcAft>
                        <a:buNone/>
                      </a:pPr>
                      <a:r>
                        <a:rPr lang="en-US" sz="1800"/>
                        <a:t>Journal/Conference Name</a:t>
                      </a:r>
                      <a:endParaRPr/>
                    </a:p>
                  </a:txBody>
                  <a:tcPr marL="91450" marR="91450" marT="45725" marB="45725"/>
                </a:tc>
                <a:tc>
                  <a:txBody>
                    <a:bodyPr/>
                    <a:lstStyle/>
                    <a:p>
                      <a:pPr marL="0" marR="0" lvl="0" indent="0" algn="l" rtl="0">
                        <a:spcBef>
                          <a:spcPts val="0"/>
                        </a:spcBef>
                        <a:spcAft>
                          <a:spcPts val="0"/>
                        </a:spcAft>
                        <a:buNone/>
                      </a:pPr>
                      <a:r>
                        <a:rPr lang="en-US" sz="1800"/>
                        <a:t>Inferences</a:t>
                      </a:r>
                      <a:endParaRPr/>
                    </a:p>
                  </a:txBody>
                  <a:tcPr marL="91450" marR="91450" marT="45725" marB="45725"/>
                </a:tc>
                <a:extLst>
                  <a:ext uri="{0D108BD9-81ED-4DB2-BD59-A6C34878D82A}">
                    <a16:rowId xmlns:a16="http://schemas.microsoft.com/office/drawing/2014/main" val="10000"/>
                  </a:ext>
                </a:extLst>
              </a:tr>
              <a:tr h="5028366">
                <a:tc>
                  <a:txBody>
                    <a:bodyPr/>
                    <a:lstStyle/>
                    <a:p>
                      <a:pPr marL="0" marR="0" lvl="0" indent="0" algn="l" rtl="0">
                        <a:spcBef>
                          <a:spcPts val="0"/>
                        </a:spcBef>
                        <a:spcAft>
                          <a:spcPts val="0"/>
                        </a:spcAft>
                        <a:buNone/>
                      </a:pPr>
                      <a:r>
                        <a:rPr lang="en-US" sz="1800" dirty="0">
                          <a:latin typeface="Times New Roman"/>
                          <a:ea typeface="Times New Roman"/>
                          <a:cs typeface="Times New Roman"/>
                          <a:sym typeface="Times New Roman"/>
                        </a:rPr>
                        <a:t>10</a:t>
                      </a:r>
                      <a:endParaRPr sz="1800" dirty="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Multi-Language Online Handwriting Recognition</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marR="0" lvl="0" indent="0" algn="l" rtl="0">
                        <a:spcBef>
                          <a:spcPts val="0"/>
                        </a:spcBef>
                        <a:spcAft>
                          <a:spcPts val="0"/>
                        </a:spcAft>
                        <a:buNone/>
                      </a:pPr>
                      <a:endParaRPr sz="1800" dirty="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800" dirty="0">
                          <a:latin typeface="Times New Roman"/>
                          <a:ea typeface="Times New Roman"/>
                          <a:cs typeface="Times New Roman"/>
                          <a:sym typeface="Times New Roman"/>
                        </a:rPr>
                        <a:t>2017</a:t>
                      </a:r>
                      <a:endParaRPr sz="1800" dirty="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US" sz="1800" dirty="0"/>
                        <a:t>IEEE Transactions on Pattern Analysis and Machine</a:t>
                      </a:r>
                      <a:endParaRPr sz="1800" dirty="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A general overview of the system  architecture and the novel components, such as unified time for</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r>
                        <a:rPr lang="en-US" sz="1800" dirty="0">
                          <a:latin typeface="Times New Roman"/>
                          <a:ea typeface="Times New Roman"/>
                          <a:cs typeface="Times New Roman"/>
                          <a:sym typeface="Times New Roman"/>
                        </a:rPr>
                        <a:t>feature combination, and a cascade of pruning strategies.</a:t>
                      </a: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lvl="0" indent="0" algn="l" rtl="0">
                        <a:spcBef>
                          <a:spcPts val="0"/>
                        </a:spcBef>
                        <a:spcAft>
                          <a:spcPts val="0"/>
                        </a:spcAft>
                        <a:buSzPts val="1100"/>
                        <a:buNone/>
                      </a:pPr>
                      <a:endParaRPr sz="1800" dirty="0">
                        <a:latin typeface="Times New Roman"/>
                        <a:ea typeface="Times New Roman"/>
                        <a:cs typeface="Times New Roman"/>
                        <a:sym typeface="Times New Roman"/>
                      </a:endParaRPr>
                    </a:p>
                    <a:p>
                      <a:pPr marL="0" marR="0" lvl="0" indent="0" algn="l" rtl="0">
                        <a:spcBef>
                          <a:spcPts val="0"/>
                        </a:spcBef>
                        <a:spcAft>
                          <a:spcPts val="0"/>
                        </a:spcAft>
                        <a:buNone/>
                      </a:pPr>
                      <a:endParaRPr sz="1800"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bl>
          </a:graphicData>
        </a:graphic>
      </p:graphicFrame>
      <p:sp>
        <p:nvSpPr>
          <p:cNvPr id="191" name="Google Shape;191;p27"/>
          <p:cNvSpPr txBox="1">
            <a:spLocks noGrp="1"/>
          </p:cNvSpPr>
          <p:nvPr>
            <p:ph type="ftr" idx="11"/>
          </p:nvPr>
        </p:nvSpPr>
        <p:spPr>
          <a:xfrm>
            <a:off x="3124200" y="6400799"/>
            <a:ext cx="39624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8"/>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Objective</a:t>
            </a:r>
            <a:endParaRPr/>
          </a:p>
        </p:txBody>
      </p:sp>
      <p:sp>
        <p:nvSpPr>
          <p:cNvPr id="197" name="Google Shape;197;p28"/>
          <p:cNvSpPr txBox="1">
            <a:spLocks noGrp="1"/>
          </p:cNvSpPr>
          <p:nvPr>
            <p:ph type="body" idx="1"/>
          </p:nvPr>
        </p:nvSpPr>
        <p:spPr>
          <a:xfrm>
            <a:off x="609600" y="990600"/>
            <a:ext cx="8229600" cy="5029200"/>
          </a:xfrm>
          <a:prstGeom prst="rect">
            <a:avLst/>
          </a:prstGeom>
          <a:noFill/>
          <a:ln>
            <a:noFill/>
          </a:ln>
        </p:spPr>
        <p:txBody>
          <a:bodyPr spcFirstLastPara="1" wrap="square" lIns="91425" tIns="45700" rIns="91425" bIns="45700" anchor="t" anchorCtr="0">
            <a:noAutofit/>
          </a:bodyPr>
          <a:lstStyle/>
          <a:p>
            <a:pPr marL="457200" lvl="0" indent="-368300" algn="just" rtl="0">
              <a:spcBef>
                <a:spcPts val="0"/>
              </a:spcBef>
              <a:spcAft>
                <a:spcPts val="0"/>
              </a:spcAft>
              <a:buSzPts val="2200"/>
              <a:buFont typeface="Times New Roman"/>
              <a:buChar char="•"/>
            </a:pPr>
            <a:r>
              <a:rPr lang="en-US" sz="2200" dirty="0">
                <a:latin typeface="Times New Roman"/>
                <a:ea typeface="Times New Roman"/>
                <a:cs typeface="Times New Roman"/>
                <a:sym typeface="Times New Roman"/>
              </a:rPr>
              <a:t>To develop an efficient framework that removes noise from noisy images of handwritten characters.</a:t>
            </a:r>
            <a:endParaRPr sz="2200" dirty="0">
              <a:latin typeface="Times New Roman"/>
              <a:ea typeface="Times New Roman"/>
              <a:cs typeface="Times New Roman"/>
              <a:sym typeface="Times New Roman"/>
            </a:endParaRPr>
          </a:p>
          <a:p>
            <a:pPr marL="457200" lvl="0" indent="-368300" algn="just" rtl="0">
              <a:spcBef>
                <a:spcPts val="0"/>
              </a:spcBef>
              <a:spcAft>
                <a:spcPts val="0"/>
              </a:spcAft>
              <a:buSzPts val="2200"/>
              <a:buFont typeface="Times New Roman"/>
              <a:buChar char="•"/>
            </a:pPr>
            <a:r>
              <a:rPr lang="en-US" sz="2200" dirty="0">
                <a:latin typeface="Times New Roman"/>
                <a:ea typeface="Times New Roman"/>
                <a:cs typeface="Times New Roman"/>
                <a:sym typeface="Times New Roman"/>
              </a:rPr>
              <a:t>To provide a way of efficiently leveraging the limited data available in this scenario.</a:t>
            </a:r>
            <a:endParaRPr sz="2200" dirty="0">
              <a:latin typeface="Times New Roman"/>
              <a:ea typeface="Times New Roman"/>
              <a:cs typeface="Times New Roman"/>
              <a:sym typeface="Times New Roman"/>
            </a:endParaRPr>
          </a:p>
          <a:p>
            <a:pPr marL="457200" lvl="0" indent="-368300" algn="just" rtl="0">
              <a:spcBef>
                <a:spcPts val="0"/>
              </a:spcBef>
              <a:spcAft>
                <a:spcPts val="0"/>
              </a:spcAft>
              <a:buSzPts val="2200"/>
              <a:buFont typeface="Times New Roman"/>
              <a:buChar char="•"/>
            </a:pPr>
            <a:r>
              <a:rPr lang="en-US" sz="2200" dirty="0">
                <a:latin typeface="Times New Roman"/>
                <a:ea typeface="Times New Roman"/>
                <a:cs typeface="Times New Roman"/>
                <a:sym typeface="Times New Roman"/>
              </a:rPr>
              <a:t>To allow for improved generalization capabilities at a low computational cost.</a:t>
            </a:r>
            <a:endParaRPr sz="2200" dirty="0">
              <a:latin typeface="Times New Roman"/>
              <a:ea typeface="Times New Roman"/>
              <a:cs typeface="Times New Roman"/>
              <a:sym typeface="Times New Roman"/>
            </a:endParaRPr>
          </a:p>
          <a:p>
            <a:pPr marL="457200" lvl="0" indent="-368300" algn="just" rtl="0">
              <a:spcBef>
                <a:spcPts val="0"/>
              </a:spcBef>
              <a:spcAft>
                <a:spcPts val="0"/>
              </a:spcAft>
              <a:buSzPts val="2200"/>
              <a:buFont typeface="Times New Roman"/>
              <a:buChar char="•"/>
            </a:pPr>
            <a:r>
              <a:rPr lang="en-US" sz="2200" dirty="0">
                <a:latin typeface="Times New Roman"/>
                <a:ea typeface="Times New Roman"/>
                <a:cs typeface="Times New Roman"/>
                <a:sym typeface="Times New Roman"/>
              </a:rPr>
              <a:t>To capture global contextual information.</a:t>
            </a:r>
            <a:endParaRPr sz="2200" dirty="0">
              <a:latin typeface="Times New Roman"/>
              <a:ea typeface="Times New Roman"/>
              <a:cs typeface="Times New Roman"/>
              <a:sym typeface="Times New Roman"/>
            </a:endParaRPr>
          </a:p>
          <a:p>
            <a:pPr marL="457200" lvl="0" indent="-368300" algn="just" rtl="0">
              <a:spcBef>
                <a:spcPts val="0"/>
              </a:spcBef>
              <a:spcAft>
                <a:spcPts val="0"/>
              </a:spcAft>
              <a:buSzPts val="2200"/>
              <a:buFont typeface="Times New Roman"/>
              <a:buChar char="•"/>
            </a:pPr>
            <a:r>
              <a:rPr lang="en-US" sz="2200" dirty="0">
                <a:latin typeface="Times New Roman"/>
                <a:ea typeface="Times New Roman"/>
                <a:cs typeface="Times New Roman"/>
                <a:sym typeface="Times New Roman"/>
              </a:rPr>
              <a:t>To aim at high precision and low number of trainable parameters.</a:t>
            </a:r>
            <a:endParaRPr sz="2200" dirty="0">
              <a:latin typeface="Times New Roman"/>
              <a:ea typeface="Times New Roman"/>
              <a:cs typeface="Times New Roman"/>
              <a:sym typeface="Times New Roman"/>
            </a:endParaRPr>
          </a:p>
          <a:p>
            <a:pPr marL="342900" lvl="0" indent="-215900" algn="just" rtl="0">
              <a:spcBef>
                <a:spcPts val="0"/>
              </a:spcBef>
              <a:spcAft>
                <a:spcPts val="0"/>
              </a:spcAft>
              <a:buClr>
                <a:schemeClr val="dk1"/>
              </a:buClr>
              <a:buSzPts val="2000"/>
              <a:buNone/>
            </a:pPr>
            <a:endParaRPr sz="2000" dirty="0">
              <a:latin typeface="Times New Roman"/>
              <a:ea typeface="Times New Roman"/>
              <a:cs typeface="Times New Roman"/>
              <a:sym typeface="Times New Roman"/>
            </a:endParaRPr>
          </a:p>
        </p:txBody>
      </p:sp>
      <p:sp>
        <p:nvSpPr>
          <p:cNvPr id="198" name="Google Shape;198;p28"/>
          <p:cNvSpPr txBox="1">
            <a:spLocks noGrp="1"/>
          </p:cNvSpPr>
          <p:nvPr>
            <p:ph type="ftr" idx="11"/>
          </p:nvPr>
        </p:nvSpPr>
        <p:spPr>
          <a:xfrm>
            <a:off x="381000" y="6356351"/>
            <a:ext cx="8305800" cy="27304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 INTERNET OF THINGS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Problem Statement</a:t>
            </a:r>
            <a:endParaRPr/>
          </a:p>
        </p:txBody>
      </p:sp>
      <p:sp>
        <p:nvSpPr>
          <p:cNvPr id="204" name="Google Shape;204;p2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20000"/>
          </a:bodyPr>
          <a:lstStyle/>
          <a:p>
            <a:pPr marL="457200" lvl="0" indent="-317182" algn="just" rtl="0">
              <a:spcBef>
                <a:spcPts val="0"/>
              </a:spcBef>
              <a:spcAft>
                <a:spcPts val="0"/>
              </a:spcAft>
              <a:buSzPct val="56250"/>
              <a:buChar char="●"/>
            </a:pPr>
            <a:r>
              <a:rPr lang="en-US" dirty="0"/>
              <a:t>Layout analysis is a task of uttermost importance in ancient handwritten document analysis and represents a fundamental step toward the simplification of subsequent tasks such as optical character recognition and automatic transcription. However, many of the approaches adopted to solve this problem rely on a fully supervised learning paradigm. While these systems achieve very good performance on this task, the drawback is that pixel-precise text labeling of the entire training set is a very time-consuming process, which makes this type of information rarely available in a real-world scenario.</a:t>
            </a:r>
            <a:endParaRPr dirty="0"/>
          </a:p>
          <a:p>
            <a:pPr marL="342900" lvl="0" indent="-139700" algn="l" rtl="0">
              <a:spcBef>
                <a:spcPts val="0"/>
              </a:spcBef>
              <a:spcAft>
                <a:spcPts val="0"/>
              </a:spcAft>
              <a:buClr>
                <a:schemeClr val="dk1"/>
              </a:buClr>
              <a:buSzPct val="100000"/>
              <a:buNone/>
            </a:pPr>
            <a:endParaRPr dirty="0"/>
          </a:p>
        </p:txBody>
      </p:sp>
      <p:sp>
        <p:nvSpPr>
          <p:cNvPr id="205" name="Google Shape;205;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 INTERNET OF THINGS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Proposed Work</a:t>
            </a:r>
            <a:endParaRPr/>
          </a:p>
        </p:txBody>
      </p:sp>
      <p:sp>
        <p:nvSpPr>
          <p:cNvPr id="211" name="Google Shape;211;p3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457200" lvl="0" indent="-381000" algn="just" rtl="0">
              <a:spcBef>
                <a:spcPts val="0"/>
              </a:spcBef>
              <a:spcAft>
                <a:spcPts val="0"/>
              </a:spcAft>
              <a:buSzPts val="2400"/>
              <a:buChar char="•"/>
            </a:pPr>
            <a:r>
              <a:rPr lang="en-US" sz="2400" dirty="0"/>
              <a:t>In deformable convolutions, the regular kernel grid is altered by adding a translation vector to the location of each kernel element. Translations vectors are computed in a content-dependent manner so that the kernel grid can be deformed depending on the input of the convolutional layer itself. As a consequence, deformable convolutions can adapt to the input geometric variations and part deformations, making them potentially more suitable for dealing with HTR images compared to standard convolutions.</a:t>
            </a:r>
            <a:endParaRPr sz="2400" dirty="0"/>
          </a:p>
          <a:p>
            <a:pPr marL="457200" lvl="0" indent="0" algn="just" rtl="0">
              <a:spcBef>
                <a:spcPts val="0"/>
              </a:spcBef>
              <a:spcAft>
                <a:spcPts val="0"/>
              </a:spcAft>
              <a:buNone/>
            </a:pPr>
            <a:endParaRPr sz="2400" dirty="0"/>
          </a:p>
          <a:p>
            <a:pPr marL="342900" lvl="0" indent="-139700" algn="l" rtl="0">
              <a:spcBef>
                <a:spcPts val="0"/>
              </a:spcBef>
              <a:spcAft>
                <a:spcPts val="0"/>
              </a:spcAft>
              <a:buClr>
                <a:schemeClr val="dk1"/>
              </a:buClr>
              <a:buSzPts val="3200"/>
              <a:buNone/>
            </a:pPr>
            <a:endParaRPr dirty="0"/>
          </a:p>
        </p:txBody>
      </p:sp>
      <p:sp>
        <p:nvSpPr>
          <p:cNvPr id="212" name="Google Shape;212;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 INTERNET OF THINGS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Software &amp; Hardware Requirements</a:t>
            </a:r>
            <a:endParaRPr/>
          </a:p>
        </p:txBody>
      </p:sp>
      <p:sp>
        <p:nvSpPr>
          <p:cNvPr id="218" name="Google Shape;218;p3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70000" lnSpcReduction="20000"/>
          </a:bodyPr>
          <a:lstStyle/>
          <a:p>
            <a:pPr marL="342900" lvl="0" indent="-139700" algn="just" rtl="0">
              <a:spcBef>
                <a:spcPts val="0"/>
              </a:spcBef>
              <a:spcAft>
                <a:spcPts val="0"/>
              </a:spcAft>
              <a:buClr>
                <a:schemeClr val="dk1"/>
              </a:buClr>
              <a:buSzPct val="31557"/>
              <a:buNone/>
            </a:pPr>
            <a:r>
              <a:rPr lang="en-US" sz="3485" b="1" dirty="0"/>
              <a:t>Hardware Requirements:</a:t>
            </a:r>
            <a:endParaRPr sz="3485" b="1" dirty="0"/>
          </a:p>
          <a:p>
            <a:pPr marL="342900" lvl="0" indent="-139700" algn="just" rtl="0">
              <a:spcBef>
                <a:spcPts val="0"/>
              </a:spcBef>
              <a:spcAft>
                <a:spcPts val="0"/>
              </a:spcAft>
              <a:buClr>
                <a:schemeClr val="dk1"/>
              </a:buClr>
              <a:buSzPct val="34375"/>
              <a:buFont typeface="Arial"/>
              <a:buNone/>
            </a:pPr>
            <a:endParaRPr dirty="0"/>
          </a:p>
          <a:p>
            <a:pPr marL="457200" lvl="0" indent="-308610" algn="just" rtl="0">
              <a:spcBef>
                <a:spcPts val="0"/>
              </a:spcBef>
              <a:spcAft>
                <a:spcPts val="0"/>
              </a:spcAft>
              <a:buSzPct val="56250"/>
              <a:buChar char="•"/>
            </a:pPr>
            <a:r>
              <a:rPr lang="en-US" dirty="0"/>
              <a:t>Processor: Minimum i3 Dual Core</a:t>
            </a:r>
            <a:endParaRPr dirty="0"/>
          </a:p>
          <a:p>
            <a:pPr marL="457200" lvl="0" indent="-308610" algn="just" rtl="0">
              <a:spcBef>
                <a:spcPts val="0"/>
              </a:spcBef>
              <a:spcAft>
                <a:spcPts val="0"/>
              </a:spcAft>
              <a:buSzPct val="56250"/>
              <a:buChar char="•"/>
            </a:pPr>
            <a:r>
              <a:rPr lang="en-US" dirty="0"/>
              <a:t>Ethernet connection (LAN) OR a wireless adapter (Wi-Fi)</a:t>
            </a:r>
            <a:endParaRPr dirty="0"/>
          </a:p>
          <a:p>
            <a:pPr marL="457200" lvl="0" indent="-308610" algn="just" rtl="0">
              <a:spcBef>
                <a:spcPts val="0"/>
              </a:spcBef>
              <a:spcAft>
                <a:spcPts val="0"/>
              </a:spcAft>
              <a:buSzPct val="56250"/>
              <a:buChar char="•"/>
            </a:pPr>
            <a:r>
              <a:rPr lang="en-US" dirty="0"/>
              <a:t>Hard Drive: Minimum 100 GB; Recommended 200 GB or more</a:t>
            </a:r>
            <a:endParaRPr dirty="0"/>
          </a:p>
          <a:p>
            <a:pPr marL="457200" lvl="0" indent="-308610" algn="just" rtl="0">
              <a:spcBef>
                <a:spcPts val="0"/>
              </a:spcBef>
              <a:spcAft>
                <a:spcPts val="0"/>
              </a:spcAft>
              <a:buSzPct val="56250"/>
              <a:buChar char="•"/>
            </a:pPr>
            <a:r>
              <a:rPr lang="en-US" dirty="0"/>
              <a:t>Memory (RAM): Minimum 8 GB; Recommended 32 GB or above</a:t>
            </a:r>
            <a:endParaRPr dirty="0"/>
          </a:p>
          <a:p>
            <a:pPr marL="342900" lvl="0" indent="-139700" algn="just" rtl="0">
              <a:spcBef>
                <a:spcPts val="0"/>
              </a:spcBef>
              <a:spcAft>
                <a:spcPts val="0"/>
              </a:spcAft>
              <a:buClr>
                <a:schemeClr val="dk1"/>
              </a:buClr>
              <a:buSzPct val="34375"/>
              <a:buFont typeface="Arial"/>
              <a:buNone/>
            </a:pPr>
            <a:endParaRPr dirty="0"/>
          </a:p>
          <a:p>
            <a:pPr marL="342900" lvl="0" indent="-139700" algn="just" rtl="0">
              <a:spcBef>
                <a:spcPts val="0"/>
              </a:spcBef>
              <a:spcAft>
                <a:spcPts val="0"/>
              </a:spcAft>
              <a:buClr>
                <a:schemeClr val="dk1"/>
              </a:buClr>
              <a:buSzPct val="31557"/>
              <a:buNone/>
            </a:pPr>
            <a:r>
              <a:rPr lang="en-US" sz="3485" b="1" dirty="0"/>
              <a:t>Software Requirements:</a:t>
            </a:r>
            <a:endParaRPr sz="3485" b="1" dirty="0"/>
          </a:p>
          <a:p>
            <a:pPr marL="342900" lvl="0" indent="-139700" algn="just" rtl="0">
              <a:spcBef>
                <a:spcPts val="0"/>
              </a:spcBef>
              <a:spcAft>
                <a:spcPts val="0"/>
              </a:spcAft>
              <a:buClr>
                <a:schemeClr val="dk1"/>
              </a:buClr>
              <a:buSzPct val="34375"/>
              <a:buFont typeface="Arial"/>
              <a:buNone/>
            </a:pPr>
            <a:endParaRPr dirty="0"/>
          </a:p>
          <a:p>
            <a:pPr marL="457200" lvl="0" indent="-308610" algn="just" rtl="0">
              <a:spcBef>
                <a:spcPts val="0"/>
              </a:spcBef>
              <a:spcAft>
                <a:spcPts val="0"/>
              </a:spcAft>
              <a:buSzPct val="56250"/>
              <a:buChar char="•"/>
            </a:pPr>
            <a:r>
              <a:rPr lang="en-US" dirty="0"/>
              <a:t>Python</a:t>
            </a:r>
            <a:endParaRPr dirty="0"/>
          </a:p>
          <a:p>
            <a:pPr marL="457200" lvl="0" indent="-308610" algn="just" rtl="0">
              <a:spcBef>
                <a:spcPts val="0"/>
              </a:spcBef>
              <a:spcAft>
                <a:spcPts val="0"/>
              </a:spcAft>
              <a:buSzPct val="56250"/>
              <a:buChar char="•"/>
            </a:pPr>
            <a:r>
              <a:rPr lang="en-US" dirty="0"/>
              <a:t>Anaconda</a:t>
            </a:r>
            <a:endParaRPr dirty="0"/>
          </a:p>
          <a:p>
            <a:pPr marL="457200" lvl="0" indent="-308610" algn="just" rtl="0">
              <a:spcBef>
                <a:spcPts val="0"/>
              </a:spcBef>
              <a:spcAft>
                <a:spcPts val="0"/>
              </a:spcAft>
              <a:buSzPct val="56250"/>
              <a:buChar char="•"/>
            </a:pPr>
            <a:r>
              <a:rPr lang="en-US" dirty="0" err="1"/>
              <a:t>Jupyter</a:t>
            </a:r>
            <a:r>
              <a:rPr lang="en-US" dirty="0"/>
              <a:t> Notebook</a:t>
            </a:r>
            <a:endParaRPr dirty="0"/>
          </a:p>
          <a:p>
            <a:pPr marL="457200" lvl="0" indent="-308610" algn="just" rtl="0">
              <a:spcBef>
                <a:spcPts val="0"/>
              </a:spcBef>
              <a:spcAft>
                <a:spcPts val="0"/>
              </a:spcAft>
              <a:buSzPct val="56250"/>
              <a:buChar char="•"/>
            </a:pPr>
            <a:r>
              <a:rPr lang="en-US" dirty="0"/>
              <a:t>TensorFlow</a:t>
            </a:r>
            <a:endParaRPr dirty="0"/>
          </a:p>
          <a:p>
            <a:pPr marL="457200" lvl="0" indent="-308610" algn="just" rtl="0">
              <a:spcBef>
                <a:spcPts val="0"/>
              </a:spcBef>
              <a:spcAft>
                <a:spcPts val="0"/>
              </a:spcAft>
              <a:buSzPct val="56250"/>
              <a:buChar char="•"/>
            </a:pPr>
            <a:r>
              <a:rPr lang="en-US" dirty="0" err="1"/>
              <a:t>Keras</a:t>
            </a:r>
            <a:endParaRPr dirty="0"/>
          </a:p>
          <a:p>
            <a:pPr marL="342900" lvl="0" indent="-139700" algn="l" rtl="0">
              <a:spcBef>
                <a:spcPts val="0"/>
              </a:spcBef>
              <a:spcAft>
                <a:spcPts val="0"/>
              </a:spcAft>
              <a:buClr>
                <a:schemeClr val="dk1"/>
              </a:buClr>
              <a:buSzPct val="100000"/>
              <a:buNone/>
            </a:pPr>
            <a:endParaRPr dirty="0"/>
          </a:p>
        </p:txBody>
      </p:sp>
      <p:sp>
        <p:nvSpPr>
          <p:cNvPr id="219" name="Google Shape;219;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 INTERNET OF THINGS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2"/>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References</a:t>
            </a:r>
            <a:endParaRPr/>
          </a:p>
        </p:txBody>
      </p:sp>
      <p:sp>
        <p:nvSpPr>
          <p:cNvPr id="225" name="Google Shape;225;p32"/>
          <p:cNvSpPr txBox="1">
            <a:spLocks noGrp="1"/>
          </p:cNvSpPr>
          <p:nvPr>
            <p:ph type="body" idx="1"/>
          </p:nvPr>
        </p:nvSpPr>
        <p:spPr>
          <a:xfrm>
            <a:off x="457200" y="1066800"/>
            <a:ext cx="8229600" cy="5059363"/>
          </a:xfrm>
          <a:prstGeom prst="rect">
            <a:avLst/>
          </a:prstGeom>
          <a:noFill/>
          <a:ln>
            <a:noFill/>
          </a:ln>
        </p:spPr>
        <p:txBody>
          <a:bodyPr spcFirstLastPara="1" wrap="square" lIns="91425" tIns="45700" rIns="91425" bIns="45700" anchor="t" anchorCtr="0">
            <a:noAutofit/>
          </a:bodyPr>
          <a:lstStyle/>
          <a:p>
            <a:pPr lvl="0" indent="-457200" algn="l" rtl="0">
              <a:spcBef>
                <a:spcPts val="0"/>
              </a:spcBef>
              <a:spcAft>
                <a:spcPts val="0"/>
              </a:spcAft>
              <a:buFont typeface="+mj-lt"/>
              <a:buAutoNum type="arabicPeriod"/>
            </a:pPr>
            <a:r>
              <a:rPr lang="en-US" sz="2000" dirty="0">
                <a:latin typeface="Times New Roman"/>
                <a:ea typeface="Times New Roman"/>
                <a:cs typeface="Times New Roman"/>
                <a:sym typeface="Times New Roman"/>
              </a:rPr>
              <a:t>Felix </a:t>
            </a:r>
            <a:r>
              <a:rPr lang="en-US" sz="2000" dirty="0" err="1">
                <a:latin typeface="Times New Roman"/>
                <a:ea typeface="Times New Roman"/>
                <a:cs typeface="Times New Roman"/>
                <a:sym typeface="Times New Roman"/>
              </a:rPr>
              <a:t>Ott,David</a:t>
            </a:r>
            <a:r>
              <a:rPr lang="en-US" sz="2000" dirty="0">
                <a:latin typeface="Times New Roman"/>
                <a:ea typeface="Times New Roman"/>
                <a:cs typeface="Times New Roman"/>
                <a:sym typeface="Times New Roman"/>
              </a:rPr>
              <a:t> RÃ1⁄4gamer,Lucas </a:t>
            </a:r>
            <a:r>
              <a:rPr lang="en-US" sz="2000" dirty="0" err="1">
                <a:latin typeface="Times New Roman"/>
                <a:ea typeface="Times New Roman"/>
                <a:cs typeface="Times New Roman"/>
                <a:sym typeface="Times New Roman"/>
              </a:rPr>
              <a:t>Heublein,Bernd</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Bischl,Christopher</a:t>
            </a:r>
            <a:r>
              <a:rPr lang="en-US" sz="2000" dirty="0">
                <a:latin typeface="Times New Roman"/>
                <a:ea typeface="Times New Roman"/>
                <a:cs typeface="Times New Roman"/>
                <a:sym typeface="Times New Roman"/>
              </a:rPr>
              <a:t> Mutschler Auxiliary Cross-Modal Representation Learning With Triplet Loss Functions for Online Handwriting Recognition IEEE Access, 2023</a:t>
            </a:r>
          </a:p>
          <a:p>
            <a:pPr lvl="0" indent="-457200" algn="l" rtl="0">
              <a:spcBef>
                <a:spcPts val="0"/>
              </a:spcBef>
              <a:spcAft>
                <a:spcPts val="0"/>
              </a:spcAft>
              <a:buFont typeface="+mj-lt"/>
              <a:buAutoNum type="arabicPeriod"/>
            </a:pPr>
            <a:endParaRPr lang="en-US" sz="2000" dirty="0">
              <a:latin typeface="Times New Roman"/>
              <a:ea typeface="Times New Roman"/>
              <a:cs typeface="Times New Roman"/>
              <a:sym typeface="Times New Roman"/>
            </a:endParaRPr>
          </a:p>
          <a:p>
            <a:pPr lvl="0" indent="-457200" algn="l" rtl="0">
              <a:spcBef>
                <a:spcPts val="0"/>
              </a:spcBef>
              <a:spcAft>
                <a:spcPts val="0"/>
              </a:spcAft>
              <a:buFont typeface="+mj-lt"/>
              <a:buAutoNum type="arabicPeriod"/>
            </a:pPr>
            <a:r>
              <a:rPr lang="en-US" sz="2000" dirty="0">
                <a:latin typeface="Times New Roman"/>
                <a:ea typeface="Times New Roman"/>
                <a:cs typeface="Times New Roman"/>
                <a:sym typeface="Times New Roman"/>
              </a:rPr>
              <a:t> Arthur Flor De Sousa </a:t>
            </a:r>
            <a:r>
              <a:rPr lang="en-US" sz="2000" dirty="0" err="1">
                <a:latin typeface="Times New Roman"/>
                <a:ea typeface="Times New Roman"/>
                <a:cs typeface="Times New Roman"/>
                <a:sym typeface="Times New Roman"/>
              </a:rPr>
              <a:t>Neto,Byron</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Leite</a:t>
            </a:r>
            <a:r>
              <a:rPr lang="en-US" sz="2000" dirty="0">
                <a:latin typeface="Times New Roman"/>
                <a:ea typeface="Times New Roman"/>
                <a:cs typeface="Times New Roman"/>
                <a:sym typeface="Times New Roman"/>
              </a:rPr>
              <a:t> Dantas </a:t>
            </a:r>
            <a:r>
              <a:rPr lang="en-US" sz="2000" dirty="0" err="1">
                <a:latin typeface="Times New Roman"/>
                <a:ea typeface="Times New Roman"/>
                <a:cs typeface="Times New Roman"/>
                <a:sym typeface="Times New Roman"/>
              </a:rPr>
              <a:t>Bezerra,Estanislau</a:t>
            </a:r>
            <a:r>
              <a:rPr lang="en-US" sz="2000" dirty="0">
                <a:latin typeface="Times New Roman"/>
                <a:ea typeface="Times New Roman"/>
                <a:cs typeface="Times New Roman"/>
                <a:sym typeface="Times New Roman"/>
              </a:rPr>
              <a:t> Baptista </a:t>
            </a:r>
            <a:r>
              <a:rPr lang="en-US" sz="2000" dirty="0" err="1">
                <a:latin typeface="Times New Roman"/>
                <a:ea typeface="Times New Roman"/>
                <a:cs typeface="Times New Roman"/>
                <a:sym typeface="Times New Roman"/>
              </a:rPr>
              <a:t>Lima,Alejandro</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HÃ©ctor</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Toselli</a:t>
            </a:r>
            <a:r>
              <a:rPr lang="en-US" sz="2000" dirty="0">
                <a:latin typeface="Times New Roman"/>
                <a:ea typeface="Times New Roman"/>
                <a:cs typeface="Times New Roman"/>
                <a:sym typeface="Times New Roman"/>
              </a:rPr>
              <a:t> HDSR-Flor: A Robust End-to-End System to Solve the Handwritten Digit String Recognition Problem in Real Complex Scenarios IEEE Access, 2020</a:t>
            </a:r>
          </a:p>
          <a:p>
            <a:pPr lvl="0" indent="-457200" algn="l" rtl="0">
              <a:spcBef>
                <a:spcPts val="0"/>
              </a:spcBef>
              <a:spcAft>
                <a:spcPts val="0"/>
              </a:spcAft>
              <a:buFont typeface="+mj-lt"/>
              <a:buAutoNum type="arabicPeriod"/>
            </a:pPr>
            <a:endParaRPr lang="en-US" sz="2000" dirty="0">
              <a:latin typeface="Times New Roman"/>
              <a:ea typeface="Times New Roman"/>
              <a:cs typeface="Times New Roman"/>
              <a:sym typeface="Times New Roman"/>
            </a:endParaRPr>
          </a:p>
          <a:p>
            <a:pPr lvl="0" indent="-457200" algn="l" rtl="0">
              <a:spcBef>
                <a:spcPts val="0"/>
              </a:spcBef>
              <a:spcAft>
                <a:spcPts val="0"/>
              </a:spcAft>
              <a:buFont typeface="+mj-lt"/>
              <a:buAutoNum type="arabicPeriod"/>
            </a:pPr>
            <a:r>
              <a:rPr lang="en-US" sz="2000" dirty="0">
                <a:latin typeface="Times New Roman"/>
                <a:ea typeface="Times New Roman"/>
                <a:cs typeface="Times New Roman"/>
                <a:sym typeface="Times New Roman"/>
              </a:rPr>
              <a:t>A. B. M. </a:t>
            </a:r>
            <a:r>
              <a:rPr lang="en-US" sz="2000" dirty="0" err="1">
                <a:latin typeface="Times New Roman"/>
                <a:ea typeface="Times New Roman"/>
                <a:cs typeface="Times New Roman"/>
                <a:sym typeface="Times New Roman"/>
              </a:rPr>
              <a:t>Ashikur</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Rahman,Md</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Bakhtiar</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Hasan,Sabbir</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Ahmed,Tasnim</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Ahmed,Md</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Hamjajul</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Ashmafee,Mohammad</a:t>
            </a:r>
            <a:r>
              <a:rPr lang="en-US" sz="2000" dirty="0">
                <a:latin typeface="Times New Roman"/>
                <a:ea typeface="Times New Roman"/>
                <a:cs typeface="Times New Roman"/>
                <a:sym typeface="Times New Roman"/>
              </a:rPr>
              <a:t> Ridwan </a:t>
            </a:r>
            <a:r>
              <a:rPr lang="en-US" sz="2000" dirty="0" err="1">
                <a:latin typeface="Times New Roman"/>
                <a:ea typeface="Times New Roman"/>
                <a:cs typeface="Times New Roman"/>
                <a:sym typeface="Times New Roman"/>
              </a:rPr>
              <a:t>Kabir,Md</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Hasanul</a:t>
            </a:r>
            <a:r>
              <a:rPr lang="en-US" sz="2000" dirty="0">
                <a:latin typeface="Times New Roman"/>
                <a:ea typeface="Times New Roman"/>
                <a:cs typeface="Times New Roman"/>
                <a:sym typeface="Times New Roman"/>
              </a:rPr>
              <a:t> Kabir Two Decades of Bengali Handwritten Digit Recognition: A Survey IEEE Access, 2022</a:t>
            </a:r>
          </a:p>
          <a:p>
            <a:pPr lvl="0" indent="-457200" algn="l" rtl="0">
              <a:spcBef>
                <a:spcPts val="0"/>
              </a:spcBef>
              <a:spcAft>
                <a:spcPts val="0"/>
              </a:spcAft>
              <a:buFont typeface="+mj-lt"/>
              <a:buAutoNum type="arabicPeriod"/>
            </a:pPr>
            <a:endParaRPr lang="en-US" sz="2000" dirty="0">
              <a:latin typeface="Times New Roman"/>
              <a:ea typeface="Times New Roman"/>
              <a:cs typeface="Times New Roman"/>
              <a:sym typeface="Times New Roman"/>
            </a:endParaRPr>
          </a:p>
          <a:p>
            <a:pPr lvl="0" indent="-457200" algn="l" rtl="0">
              <a:spcBef>
                <a:spcPts val="0"/>
              </a:spcBef>
              <a:spcAft>
                <a:spcPts val="0"/>
              </a:spcAft>
              <a:buFont typeface="+mj-lt"/>
              <a:buAutoNum type="arabicPeriod"/>
            </a:pPr>
            <a:r>
              <a:rPr lang="en-US" sz="2000" dirty="0" err="1">
                <a:latin typeface="Times New Roman"/>
                <a:ea typeface="Times New Roman"/>
                <a:cs typeface="Times New Roman"/>
                <a:sym typeface="Times New Roman"/>
              </a:rPr>
              <a:t>Ibrar</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Hussain,Riaz</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Ahmad,Siraj</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Muhammad,Khalil</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Ullah,Habib</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Shah,Abdallah</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Namoun</a:t>
            </a:r>
            <a:r>
              <a:rPr lang="en-US" sz="2000" dirty="0">
                <a:latin typeface="Times New Roman"/>
                <a:ea typeface="Times New Roman"/>
                <a:cs typeface="Times New Roman"/>
                <a:sym typeface="Times New Roman"/>
              </a:rPr>
              <a:t> PHTI: Pashto Handwritten Text </a:t>
            </a:r>
            <a:r>
              <a:rPr lang="en-US" sz="2000" dirty="0" err="1">
                <a:latin typeface="Times New Roman"/>
                <a:ea typeface="Times New Roman"/>
                <a:cs typeface="Times New Roman"/>
                <a:sym typeface="Times New Roman"/>
              </a:rPr>
              <a:t>Imagebase</a:t>
            </a:r>
            <a:r>
              <a:rPr lang="en-US" sz="2000" dirty="0">
                <a:latin typeface="Times New Roman"/>
                <a:ea typeface="Times New Roman"/>
                <a:cs typeface="Times New Roman"/>
                <a:sym typeface="Times New Roman"/>
              </a:rPr>
              <a:t> for Deep Learning Applications IEEE Access, 2022</a:t>
            </a:r>
          </a:p>
          <a:p>
            <a:pPr marL="0" lvl="0" indent="0" algn="l" rtl="0">
              <a:spcBef>
                <a:spcPts val="0"/>
              </a:spcBef>
              <a:spcAft>
                <a:spcPts val="0"/>
              </a:spcAft>
              <a:buNone/>
            </a:pPr>
            <a:endParaRPr lang="en-US" sz="2000" dirty="0">
              <a:latin typeface="Times New Roman"/>
              <a:ea typeface="Times New Roman"/>
              <a:cs typeface="Times New Roman"/>
              <a:sym typeface="Times New Roman"/>
            </a:endParaRPr>
          </a:p>
        </p:txBody>
      </p:sp>
      <p:sp>
        <p:nvSpPr>
          <p:cNvPr id="226" name="Google Shape;226;p32"/>
          <p:cNvSpPr txBox="1">
            <a:spLocks noGrp="1"/>
          </p:cNvSpPr>
          <p:nvPr>
            <p:ph type="ftr" idx="11"/>
          </p:nvPr>
        </p:nvSpPr>
        <p:spPr>
          <a:xfrm>
            <a:off x="685800" y="6356351"/>
            <a:ext cx="7620000" cy="27304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DEPARTMENT OF COMPUTER SCIENCE AND ENGINEERING - INTERNET OF THINGS</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3"/>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References</a:t>
            </a:r>
            <a:endParaRPr/>
          </a:p>
        </p:txBody>
      </p:sp>
      <p:sp>
        <p:nvSpPr>
          <p:cNvPr id="232" name="Google Shape;232;p33"/>
          <p:cNvSpPr txBox="1">
            <a:spLocks noGrp="1"/>
          </p:cNvSpPr>
          <p:nvPr>
            <p:ph type="body" idx="1"/>
          </p:nvPr>
        </p:nvSpPr>
        <p:spPr>
          <a:xfrm>
            <a:off x="457200" y="1066800"/>
            <a:ext cx="8229600" cy="5059500"/>
          </a:xfrm>
          <a:prstGeom prst="rect">
            <a:avLst/>
          </a:prstGeom>
          <a:noFill/>
          <a:ln>
            <a:noFill/>
          </a:ln>
        </p:spPr>
        <p:txBody>
          <a:bodyPr spcFirstLastPara="1" wrap="square" lIns="91425" tIns="45700" rIns="91425" bIns="45700" anchor="t" anchorCtr="0">
            <a:noAutofit/>
          </a:bodyPr>
          <a:lstStyle/>
          <a:p>
            <a:pPr marL="914400" lvl="0" indent="-457200" algn="l" rtl="0">
              <a:spcBef>
                <a:spcPts val="0"/>
              </a:spcBef>
              <a:spcAft>
                <a:spcPts val="0"/>
              </a:spcAft>
              <a:buFont typeface="+mj-lt"/>
              <a:buAutoNum type="arabicPeriod" startAt="5"/>
            </a:pPr>
            <a:r>
              <a:rPr lang="en-US" sz="2000" dirty="0" err="1">
                <a:latin typeface="Times New Roman"/>
                <a:ea typeface="Times New Roman"/>
                <a:cs typeface="Times New Roman"/>
                <a:sym typeface="Times New Roman"/>
              </a:rPr>
              <a:t>Chungkwong</a:t>
            </a:r>
            <a:r>
              <a:rPr lang="en-US" sz="2000" dirty="0">
                <a:latin typeface="Times New Roman"/>
                <a:ea typeface="Times New Roman"/>
                <a:cs typeface="Times New Roman"/>
                <a:sym typeface="Times New Roman"/>
              </a:rPr>
              <a:t> Chan Stroke Extraction for Offline Handwritten Mathematical Expression Recognition IEEE Access, 2020</a:t>
            </a:r>
            <a:endParaRPr sz="2000" dirty="0">
              <a:latin typeface="Times New Roman"/>
              <a:ea typeface="Times New Roman"/>
              <a:cs typeface="Times New Roman"/>
              <a:sym typeface="Times New Roman"/>
            </a:endParaRPr>
          </a:p>
          <a:p>
            <a:pPr lvl="0" indent="-457200" algn="l" rtl="0">
              <a:spcBef>
                <a:spcPts val="0"/>
              </a:spcBef>
              <a:spcAft>
                <a:spcPts val="0"/>
              </a:spcAft>
              <a:buFont typeface="+mj-lt"/>
              <a:buAutoNum type="arabicPeriod" startAt="5"/>
            </a:pPr>
            <a:endParaRPr sz="2000" dirty="0">
              <a:latin typeface="Times New Roman"/>
              <a:ea typeface="Times New Roman"/>
              <a:cs typeface="Times New Roman"/>
              <a:sym typeface="Times New Roman"/>
            </a:endParaRPr>
          </a:p>
          <a:p>
            <a:pPr marL="914400" lvl="0" indent="-457200" algn="l" rtl="0">
              <a:spcBef>
                <a:spcPts val="0"/>
              </a:spcBef>
              <a:spcAft>
                <a:spcPts val="0"/>
              </a:spcAft>
              <a:buFont typeface="+mj-lt"/>
              <a:buAutoNum type="arabicPeriod" startAt="5"/>
            </a:pPr>
            <a:r>
              <a:rPr lang="en-US" sz="2000" dirty="0">
                <a:latin typeface="Times New Roman"/>
                <a:ea typeface="Times New Roman"/>
                <a:cs typeface="Times New Roman"/>
                <a:sym typeface="Times New Roman"/>
              </a:rPr>
              <a:t>Aqsa </a:t>
            </a:r>
            <a:r>
              <a:rPr lang="en-US" sz="2000" dirty="0" err="1">
                <a:latin typeface="Times New Roman"/>
                <a:ea typeface="Times New Roman"/>
                <a:cs typeface="Times New Roman"/>
                <a:sym typeface="Times New Roman"/>
              </a:rPr>
              <a:t>Rasheed,Nouman</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Ali,Bushra</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Zafar,Amsa</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Shabbir,Muhammad</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Sajid,Muhammad</a:t>
            </a:r>
            <a:r>
              <a:rPr lang="en-US" sz="2000" dirty="0">
                <a:latin typeface="Times New Roman"/>
                <a:ea typeface="Times New Roman"/>
                <a:cs typeface="Times New Roman"/>
                <a:sym typeface="Times New Roman"/>
              </a:rPr>
              <a:t> Tariq Mahmood Handwritten Urdu Characters and Digits Recognition Using Transfer Learning and Augmentation With </a:t>
            </a:r>
            <a:r>
              <a:rPr lang="en-US" sz="2000" dirty="0" err="1">
                <a:latin typeface="Times New Roman"/>
                <a:ea typeface="Times New Roman"/>
                <a:cs typeface="Times New Roman"/>
                <a:sym typeface="Times New Roman"/>
              </a:rPr>
              <a:t>AlexNet</a:t>
            </a:r>
            <a:r>
              <a:rPr lang="en-US" sz="2000" dirty="0">
                <a:latin typeface="Times New Roman"/>
                <a:ea typeface="Times New Roman"/>
                <a:cs typeface="Times New Roman"/>
                <a:sym typeface="Times New Roman"/>
              </a:rPr>
              <a:t> IEEE Access, 2022</a:t>
            </a:r>
            <a:endParaRPr sz="2000" dirty="0">
              <a:latin typeface="Times New Roman"/>
              <a:ea typeface="Times New Roman"/>
              <a:cs typeface="Times New Roman"/>
              <a:sym typeface="Times New Roman"/>
            </a:endParaRPr>
          </a:p>
          <a:p>
            <a:pPr lvl="0" indent="-457200" algn="l" rtl="0">
              <a:spcBef>
                <a:spcPts val="0"/>
              </a:spcBef>
              <a:spcAft>
                <a:spcPts val="0"/>
              </a:spcAft>
              <a:buFont typeface="+mj-lt"/>
              <a:buAutoNum type="arabicPeriod" startAt="5"/>
            </a:pPr>
            <a:endParaRPr sz="2000" dirty="0">
              <a:latin typeface="Times New Roman"/>
              <a:ea typeface="Times New Roman"/>
              <a:cs typeface="Times New Roman"/>
              <a:sym typeface="Times New Roman"/>
            </a:endParaRPr>
          </a:p>
          <a:p>
            <a:pPr marL="914400" lvl="0" indent="-457200" algn="l" rtl="0">
              <a:spcBef>
                <a:spcPts val="0"/>
              </a:spcBef>
              <a:spcAft>
                <a:spcPts val="0"/>
              </a:spcAft>
              <a:buFont typeface="+mj-lt"/>
              <a:buAutoNum type="arabicPeriod" startAt="5"/>
            </a:pPr>
            <a:r>
              <a:rPr lang="en-US" sz="2000" dirty="0" err="1">
                <a:latin typeface="Times New Roman"/>
                <a:ea typeface="Times New Roman"/>
                <a:cs typeface="Times New Roman"/>
                <a:sym typeface="Times New Roman"/>
              </a:rPr>
              <a:t>Yintong</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Wang,Yingjie</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Yang,Weiping</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Ding,Shuo</a:t>
            </a:r>
            <a:r>
              <a:rPr lang="en-US" sz="2000" dirty="0">
                <a:latin typeface="Times New Roman"/>
                <a:ea typeface="Times New Roman"/>
                <a:cs typeface="Times New Roman"/>
                <a:sym typeface="Times New Roman"/>
              </a:rPr>
              <a:t> Li A Residual-Attention Offline Handwritten Chinese Text Recognition Based on Fully Convolutional Neural Networks IEEE Access, 2021</a:t>
            </a:r>
            <a:endParaRPr sz="2000" dirty="0">
              <a:latin typeface="Times New Roman"/>
              <a:ea typeface="Times New Roman"/>
              <a:cs typeface="Times New Roman"/>
              <a:sym typeface="Times New Roman"/>
            </a:endParaRPr>
          </a:p>
          <a:p>
            <a:pPr marL="914400" lvl="0" indent="-457200" algn="l" rtl="0">
              <a:spcBef>
                <a:spcPts val="0"/>
              </a:spcBef>
              <a:spcAft>
                <a:spcPts val="0"/>
              </a:spcAft>
              <a:buFont typeface="+mj-lt"/>
              <a:buAutoNum type="arabicPeriod" startAt="5"/>
            </a:pPr>
            <a:endParaRPr sz="2000" dirty="0">
              <a:latin typeface="Times New Roman"/>
              <a:ea typeface="Times New Roman"/>
              <a:cs typeface="Times New Roman"/>
              <a:sym typeface="Times New Roman"/>
            </a:endParaRPr>
          </a:p>
          <a:p>
            <a:pPr marL="914400" lvl="0" indent="-457200" algn="l" rtl="0">
              <a:spcBef>
                <a:spcPts val="0"/>
              </a:spcBef>
              <a:spcAft>
                <a:spcPts val="0"/>
              </a:spcAft>
              <a:buFont typeface="+mj-lt"/>
              <a:buAutoNum type="arabicPeriod" startAt="5"/>
            </a:pPr>
            <a:r>
              <a:rPr lang="en-US" sz="2000" dirty="0" err="1">
                <a:latin typeface="Times New Roman"/>
                <a:ea typeface="Times New Roman"/>
                <a:cs typeface="Times New Roman"/>
                <a:sym typeface="Times New Roman"/>
              </a:rPr>
              <a:t>Sarayut</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Gonwirat,Olarik</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Surinta</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DeblurGAN</a:t>
            </a:r>
            <a:r>
              <a:rPr lang="en-US" sz="2000" dirty="0">
                <a:latin typeface="Times New Roman"/>
                <a:ea typeface="Times New Roman"/>
                <a:cs typeface="Times New Roman"/>
                <a:sym typeface="Times New Roman"/>
              </a:rPr>
              <a:t>-CNN: Effective Image Denoising and Recognition for Noisy Handwritten Characters IEEE Access, 2022</a:t>
            </a:r>
            <a:endParaRPr sz="2000" dirty="0">
              <a:latin typeface="Times New Roman"/>
              <a:ea typeface="Times New Roman"/>
              <a:cs typeface="Times New Roman"/>
              <a:sym typeface="Times New Roman"/>
            </a:endParaRPr>
          </a:p>
          <a:p>
            <a:pPr lvl="0" indent="-457200" algn="l" rtl="0">
              <a:spcBef>
                <a:spcPts val="0"/>
              </a:spcBef>
              <a:spcAft>
                <a:spcPts val="0"/>
              </a:spcAft>
              <a:buFont typeface="+mj-lt"/>
              <a:buAutoNum type="arabicPeriod" startAt="5"/>
            </a:pPr>
            <a:endParaRPr sz="2000" dirty="0">
              <a:latin typeface="Times New Roman"/>
              <a:ea typeface="Times New Roman"/>
              <a:cs typeface="Times New Roman"/>
              <a:sym typeface="Times New Roman"/>
            </a:endParaRPr>
          </a:p>
          <a:p>
            <a:pPr marL="342900" lvl="0" indent="-215900" algn="l" rtl="0">
              <a:spcBef>
                <a:spcPts val="0"/>
              </a:spcBef>
              <a:spcAft>
                <a:spcPts val="0"/>
              </a:spcAft>
              <a:buClr>
                <a:schemeClr val="dk1"/>
              </a:buClr>
              <a:buSzPts val="2000"/>
              <a:buNone/>
            </a:pPr>
            <a:endParaRPr sz="2000" dirty="0">
              <a:latin typeface="Times New Roman"/>
              <a:ea typeface="Times New Roman"/>
              <a:cs typeface="Times New Roman"/>
              <a:sym typeface="Times New Roman"/>
            </a:endParaRPr>
          </a:p>
        </p:txBody>
      </p:sp>
      <p:sp>
        <p:nvSpPr>
          <p:cNvPr id="233" name="Google Shape;233;p33"/>
          <p:cNvSpPr txBox="1">
            <a:spLocks noGrp="1"/>
          </p:cNvSpPr>
          <p:nvPr>
            <p:ph type="ftr" idx="11"/>
          </p:nvPr>
        </p:nvSpPr>
        <p:spPr>
          <a:xfrm>
            <a:off x="685800" y="6356351"/>
            <a:ext cx="7620000" cy="27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 INTERNET OF THINGS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4"/>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References</a:t>
            </a:r>
            <a:endParaRPr/>
          </a:p>
        </p:txBody>
      </p:sp>
      <p:sp>
        <p:nvSpPr>
          <p:cNvPr id="239" name="Google Shape;239;p34"/>
          <p:cNvSpPr txBox="1">
            <a:spLocks noGrp="1"/>
          </p:cNvSpPr>
          <p:nvPr>
            <p:ph type="body" idx="1"/>
          </p:nvPr>
        </p:nvSpPr>
        <p:spPr>
          <a:xfrm>
            <a:off x="457200" y="1066800"/>
            <a:ext cx="8229600" cy="5059500"/>
          </a:xfrm>
          <a:prstGeom prst="rect">
            <a:avLst/>
          </a:prstGeom>
          <a:noFill/>
          <a:ln>
            <a:noFill/>
          </a:ln>
        </p:spPr>
        <p:txBody>
          <a:bodyPr spcFirstLastPara="1" wrap="square" lIns="91425" tIns="45700" rIns="91425" bIns="45700" anchor="t" anchorCtr="0">
            <a:noAutofit/>
          </a:bodyPr>
          <a:lstStyle/>
          <a:p>
            <a:pPr marL="558800" lvl="0" indent="-457200" algn="l" rtl="0">
              <a:spcBef>
                <a:spcPts val="0"/>
              </a:spcBef>
              <a:spcAft>
                <a:spcPts val="0"/>
              </a:spcAft>
              <a:buSzPts val="2000"/>
              <a:buFont typeface="+mj-lt"/>
              <a:buAutoNum type="arabicPeriod" startAt="9"/>
            </a:pPr>
            <a:r>
              <a:rPr lang="en-US" sz="2000" dirty="0">
                <a:latin typeface="Times New Roman"/>
                <a:ea typeface="Times New Roman"/>
                <a:cs typeface="Times New Roman"/>
                <a:sym typeface="Times New Roman"/>
              </a:rPr>
              <a:t>Daniel </a:t>
            </a:r>
            <a:r>
              <a:rPr lang="en-US" sz="2000" dirty="0" err="1">
                <a:latin typeface="Times New Roman"/>
                <a:ea typeface="Times New Roman"/>
                <a:cs typeface="Times New Roman"/>
                <a:sym typeface="Times New Roman"/>
              </a:rPr>
              <a:t>Keysers,Thomas</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Deselaers,Henry</a:t>
            </a:r>
            <a:r>
              <a:rPr lang="en-US" sz="2000" dirty="0">
                <a:latin typeface="Times New Roman"/>
                <a:ea typeface="Times New Roman"/>
                <a:cs typeface="Times New Roman"/>
                <a:sym typeface="Times New Roman"/>
              </a:rPr>
              <a:t> A. </a:t>
            </a:r>
            <a:r>
              <a:rPr lang="en-US" sz="2000" dirty="0" err="1">
                <a:latin typeface="Times New Roman"/>
                <a:ea typeface="Times New Roman"/>
                <a:cs typeface="Times New Roman"/>
                <a:sym typeface="Times New Roman"/>
              </a:rPr>
              <a:t>Rowley,Li</a:t>
            </a:r>
            <a:r>
              <a:rPr lang="en-US" sz="2000" dirty="0">
                <a:latin typeface="Times New Roman"/>
                <a:ea typeface="Times New Roman"/>
                <a:cs typeface="Times New Roman"/>
                <a:sym typeface="Times New Roman"/>
              </a:rPr>
              <a:t>-Lun </a:t>
            </a:r>
            <a:r>
              <a:rPr lang="en-US" sz="2000" dirty="0" err="1">
                <a:latin typeface="Times New Roman"/>
                <a:ea typeface="Times New Roman"/>
                <a:cs typeface="Times New Roman"/>
                <a:sym typeface="Times New Roman"/>
              </a:rPr>
              <a:t>Wang,Victor</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Carbune</a:t>
            </a:r>
            <a:r>
              <a:rPr lang="en-US" sz="2000" dirty="0">
                <a:latin typeface="Times New Roman"/>
                <a:ea typeface="Times New Roman"/>
                <a:cs typeface="Times New Roman"/>
                <a:sym typeface="Times New Roman"/>
              </a:rPr>
              <a:t> Multi-Language Online Handwriting Recognition IEEE Transactions on Pattern Analysis and Machine Intelligence, 2016</a:t>
            </a:r>
            <a:endParaRPr sz="2000" dirty="0">
              <a:latin typeface="Times New Roman"/>
              <a:ea typeface="Times New Roman"/>
              <a:cs typeface="Times New Roman"/>
              <a:sym typeface="Times New Roman"/>
            </a:endParaRPr>
          </a:p>
          <a:p>
            <a:pPr lvl="0" indent="-457200" algn="l" rtl="0">
              <a:spcBef>
                <a:spcPts val="0"/>
              </a:spcBef>
              <a:spcAft>
                <a:spcPts val="0"/>
              </a:spcAft>
              <a:buFont typeface="+mj-lt"/>
              <a:buAutoNum type="arabicPeriod" startAt="9"/>
            </a:pPr>
            <a:endParaRPr sz="2000" dirty="0">
              <a:latin typeface="Times New Roman"/>
              <a:ea typeface="Times New Roman"/>
              <a:cs typeface="Times New Roman"/>
              <a:sym typeface="Times New Roman"/>
            </a:endParaRPr>
          </a:p>
          <a:p>
            <a:pPr marL="558800" lvl="0" indent="-457200" algn="l" rtl="0">
              <a:spcBef>
                <a:spcPts val="0"/>
              </a:spcBef>
              <a:spcAft>
                <a:spcPts val="0"/>
              </a:spcAft>
              <a:buSzPts val="2000"/>
              <a:buFont typeface="+mj-lt"/>
              <a:buAutoNum type="arabicPeriod" startAt="10"/>
            </a:pPr>
            <a:r>
              <a:rPr lang="en-US" sz="2000" dirty="0">
                <a:latin typeface="Times New Roman"/>
                <a:ea typeface="Times New Roman"/>
                <a:cs typeface="Times New Roman"/>
                <a:sym typeface="Times New Roman"/>
              </a:rPr>
              <a:t>Dmytro </a:t>
            </a:r>
            <a:r>
              <a:rPr lang="en-US" sz="2000" dirty="0" err="1">
                <a:latin typeface="Times New Roman"/>
                <a:ea typeface="Times New Roman"/>
                <a:cs typeface="Times New Roman"/>
                <a:sym typeface="Times New Roman"/>
              </a:rPr>
              <a:t>Zhelezniakov,Viktor</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Zaytsev,Olga</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Radyvonenko</a:t>
            </a:r>
            <a:r>
              <a:rPr lang="en-US" sz="2000" dirty="0">
                <a:latin typeface="Times New Roman"/>
                <a:ea typeface="Times New Roman"/>
                <a:cs typeface="Times New Roman"/>
                <a:sym typeface="Times New Roman"/>
              </a:rPr>
              <a:t> Online Handwritten Mathematical Expression Recognition and Applications: A Survey IEEE Access, 2021</a:t>
            </a:r>
            <a:endParaRPr sz="2000" dirty="0">
              <a:latin typeface="Times New Roman"/>
              <a:ea typeface="Times New Roman"/>
              <a:cs typeface="Times New Roman"/>
              <a:sym typeface="Times New Roman"/>
            </a:endParaRPr>
          </a:p>
          <a:p>
            <a:pPr marL="914400" lvl="0" indent="-457200" algn="l" rtl="0">
              <a:spcBef>
                <a:spcPts val="0"/>
              </a:spcBef>
              <a:spcAft>
                <a:spcPts val="0"/>
              </a:spcAft>
              <a:buFont typeface="+mj-lt"/>
              <a:buAutoNum type="arabicPeriod" startAt="10"/>
            </a:pPr>
            <a:endParaRPr sz="2000" dirty="0">
              <a:latin typeface="Times New Roman"/>
              <a:ea typeface="Times New Roman"/>
              <a:cs typeface="Times New Roman"/>
              <a:sym typeface="Times New Roman"/>
            </a:endParaRPr>
          </a:p>
          <a:p>
            <a:pPr marL="342900" lvl="0" indent="-215900" algn="l" rtl="0">
              <a:spcBef>
                <a:spcPts val="0"/>
              </a:spcBef>
              <a:spcAft>
                <a:spcPts val="0"/>
              </a:spcAft>
              <a:buClr>
                <a:schemeClr val="dk1"/>
              </a:buClr>
              <a:buSzPts val="2000"/>
              <a:buNone/>
            </a:pPr>
            <a:endParaRPr sz="2000" dirty="0">
              <a:latin typeface="Times New Roman"/>
              <a:ea typeface="Times New Roman"/>
              <a:cs typeface="Times New Roman"/>
              <a:sym typeface="Times New Roman"/>
            </a:endParaRPr>
          </a:p>
        </p:txBody>
      </p:sp>
      <p:sp>
        <p:nvSpPr>
          <p:cNvPr id="240" name="Google Shape;240;p34"/>
          <p:cNvSpPr txBox="1">
            <a:spLocks noGrp="1"/>
          </p:cNvSpPr>
          <p:nvPr>
            <p:ph type="ftr" idx="11"/>
          </p:nvPr>
        </p:nvSpPr>
        <p:spPr>
          <a:xfrm>
            <a:off x="685800" y="6356351"/>
            <a:ext cx="7620000" cy="27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 INTERNET OF THINGS</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1875</Words>
  <Application>Microsoft Office PowerPoint</Application>
  <PresentationFormat>On-screen Show (4:3)</PresentationFormat>
  <Paragraphs>252</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Office Theme</vt:lpstr>
      <vt:lpstr>SRM INSTITUTE OF SCIENCE AND TECHNOLOGY Ramapuram , Chennai – 600 089 DEPARTMENT OF COMPUTER SCIENCE AND ENGINEERING</vt:lpstr>
      <vt:lpstr>Agenda</vt:lpstr>
      <vt:lpstr>ABSTRACT</vt:lpstr>
      <vt:lpstr>Scope and Motivation</vt:lpstr>
      <vt:lpstr>Introduction</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Objective</vt:lpstr>
      <vt:lpstr>Problem Statement</vt:lpstr>
      <vt:lpstr>Proposed Work</vt:lpstr>
      <vt:lpstr>Software &amp; Hardware Requirements</vt:lpstr>
      <vt:lpstr>References</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SRM INSTITUTE OF SCIENCE AND TECHNOLOGY Ramapuram , Chennai – 600 089 DEPARTMENT OF COMPUTER SCIENCE AND ENGINEERING</dc:title>
  <cp:lastModifiedBy>Dewalker Naidu</cp:lastModifiedBy>
  <cp:revision>1</cp:revision>
  <dcterms:modified xsi:type="dcterms:W3CDTF">2024-03-22T20:52:34Z</dcterms:modified>
</cp:coreProperties>
</file>